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</p:sldMasterIdLst>
  <p:notesMasterIdLst>
    <p:notesMasterId r:id="rId18"/>
  </p:notesMasterIdLst>
  <p:sldIdLst>
    <p:sldId id="256" r:id="rId6"/>
    <p:sldId id="268" r:id="rId7"/>
    <p:sldId id="270" r:id="rId8"/>
    <p:sldId id="271" r:id="rId9"/>
    <p:sldId id="272" r:id="rId10"/>
    <p:sldId id="261" r:id="rId11"/>
    <p:sldId id="275" r:id="rId12"/>
    <p:sldId id="276" r:id="rId13"/>
    <p:sldId id="262" r:id="rId14"/>
    <p:sldId id="274" r:id="rId15"/>
    <p:sldId id="265" r:id="rId16"/>
    <p:sldId id="27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EF2F2"/>
    <a:srgbClr val="FFFF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AD7B3B-8C82-2CAA-E2E5-0763295FA790}" v="36" dt="2026-04-06T21:04:15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82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260ED-E930-18F0-1393-5449188C2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DF492-290E-183F-B093-4BE3E1892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AABED-1A41-31F4-F901-8FE63A756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6A8BC-77E4-493B-703C-311C307A09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37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9826F-5DBA-2C0D-938E-AFAD8364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F5901-D150-04B5-76CA-1CFBACE11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D4071-8427-A1A8-0825-BD25CCFFC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3A5EF-2134-CCC8-6912-16924AF7BC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05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50153-411D-CFFC-A9BE-2D10FA5A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848BD-4960-70E0-970D-317914102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5D9F8-BC76-E093-2DE7-7FA534CA2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1730-5F2E-4D30-3144-8BF83F8637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1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CA455-FAD1-1284-2322-7E233428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5B7A5-B30C-2BAD-B53B-B2075ECD6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4B5A3-670E-7876-6DA1-C8247C92A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8C365-A222-913C-E19B-1AEB25AE3C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49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5573F-C578-CFAA-3D07-3666B5C8F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D8197-448A-3E1D-14FF-E0C9511B1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E413E-879E-F5AA-7D15-4BE08DC47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2992F-85EF-0B5F-DFA7-C4D7052FB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85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28C0E-BD31-9FCC-C4FE-049019EB0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02110-4FD7-1D9B-7310-416E7F08B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837F67-EE68-494F-5AF5-E59FE40A5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9BEA5-FB70-EAC3-2827-4461A6B03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79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14A6-CCD5-CBD7-4597-7EB49B2C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E9F27-0209-833B-A0EB-DF5D518F2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605C3-0246-C02D-7008-BF72AB280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3F3D0-02A5-2788-44B4-D08B884E14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33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7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88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0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51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8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33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4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80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78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37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6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4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71595" cy="914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944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PACT</a:t>
            </a:r>
            <a:endParaRPr lang="en-US" sz="72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2400300"/>
            <a:ext cx="43238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FF0000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Penalty, Governance &amp; Accountability Compliance Tool</a:t>
            </a:r>
            <a:endParaRPr lang="en-US" sz="200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3086100"/>
            <a:ext cx="3200400" cy="3657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2689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KCC Compliance Governance Platform</a:t>
            </a:r>
            <a:endParaRPr lang="en-US" sz="16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085" y="1410789"/>
            <a:ext cx="2139696" cy="2249424"/>
          </a:xfrm>
          <a:prstGeom prst="rect">
            <a:avLst/>
          </a:prstGeom>
          <a:solidFill>
            <a:srgbClr val="FF0000"/>
          </a:solidFill>
        </p:spPr>
      </p:pic>
      <p:pic>
        <p:nvPicPr>
          <p:cNvPr id="1026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9B7E9A1C-0415-03B6-9859-310EC97AA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0"/>
            <a:ext cx="1280160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group of people working on a pipe&#10;&#10;AI-generated content may be incorrect.">
            <a:extLst>
              <a:ext uri="{FF2B5EF4-FFF2-40B4-BE49-F238E27FC236}">
                <a16:creationId xmlns:a16="http://schemas.microsoft.com/office/drawing/2014/main" id="{E20E064F-62BE-D4CE-98C7-9DE08B7E4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85" y="4362994"/>
            <a:ext cx="1645920" cy="780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702B6-DC17-62D0-2597-56319FCB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871EC8-8C8E-6E22-A6F1-D53AA0AA665E}"/>
              </a:ext>
            </a:extLst>
          </p:cNvPr>
          <p:cNvSpPr/>
          <p:nvPr/>
        </p:nvSpPr>
        <p:spPr>
          <a:xfrm>
            <a:off x="0" y="5052060"/>
            <a:ext cx="9171595" cy="91440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1026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D69630E4-09D5-9BDB-B61C-1C49AC903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0"/>
            <a:ext cx="1280160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96CAC699-7559-7ABE-FE97-5CBCFFDA460C}"/>
              </a:ext>
            </a:extLst>
          </p:cNvPr>
          <p:cNvSpPr/>
          <p:nvPr/>
        </p:nvSpPr>
        <p:spPr>
          <a:xfrm>
            <a:off x="7374147" y="519573"/>
            <a:ext cx="1349230" cy="45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0000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THE PROBLEM</a:t>
            </a:r>
            <a:endParaRPr lang="en-US" sz="140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90F97F1-693F-0F3C-EBB1-65B1DC754BB8}"/>
              </a:ext>
            </a:extLst>
          </p:cNvPr>
          <p:cNvSpPr/>
          <p:nvPr/>
        </p:nvSpPr>
        <p:spPr>
          <a:xfrm>
            <a:off x="402336" y="11567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How we manage compliance today — and why it's not working</a:t>
            </a:r>
            <a:endParaRPr lang="en-US" sz="9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F06B2CFA-2FAB-B408-CE44-B832247A2423}"/>
              </a:ext>
            </a:extLst>
          </p:cNvPr>
          <p:cNvSpPr/>
          <p:nvPr/>
        </p:nvSpPr>
        <p:spPr>
          <a:xfrm>
            <a:off x="402336" y="1508760"/>
            <a:ext cx="4023360" cy="12344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/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C84D0693-9FFD-9A14-3635-51B28EBEE181}"/>
              </a:ext>
            </a:extLst>
          </p:cNvPr>
          <p:cNvSpPr/>
          <p:nvPr/>
        </p:nvSpPr>
        <p:spPr>
          <a:xfrm>
            <a:off x="402336" y="1508760"/>
            <a:ext cx="73152" cy="12344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B9B164F3-FCC4-31B8-773F-CF6E2E3D7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8562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E08C87E6-7323-0EEC-13BB-857B7ABD2CB9}"/>
              </a:ext>
            </a:extLst>
          </p:cNvPr>
          <p:cNvSpPr/>
          <p:nvPr/>
        </p:nvSpPr>
        <p:spPr>
          <a:xfrm>
            <a:off x="1060704" y="161848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Manual &amp; Fragmented</a:t>
            </a:r>
            <a:endParaRPr lang="en-US" sz="13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18A0BC5F-EAA3-DEE2-4CB8-AB4382EA2804}"/>
              </a:ext>
            </a:extLst>
          </p:cNvPr>
          <p:cNvSpPr/>
          <p:nvPr/>
        </p:nvSpPr>
        <p:spPr>
          <a:xfrm>
            <a:off x="1060704" y="196596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7415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Penalties tracked in spreadsheets with no central visibility or audit trail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190B2F06-2278-AD3E-5259-77EDDED7EED5}"/>
              </a:ext>
            </a:extLst>
          </p:cNvPr>
          <p:cNvSpPr/>
          <p:nvPr/>
        </p:nvSpPr>
        <p:spPr>
          <a:xfrm>
            <a:off x="4700016" y="1508760"/>
            <a:ext cx="4023360" cy="12344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/>
        </p:spPr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7E26BE1A-5EAE-CD7E-2B53-9427FAC3D4C6}"/>
              </a:ext>
            </a:extLst>
          </p:cNvPr>
          <p:cNvSpPr/>
          <p:nvPr/>
        </p:nvSpPr>
        <p:spPr>
          <a:xfrm>
            <a:off x="4700016" y="1508760"/>
            <a:ext cx="73152" cy="12344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F8ECDD46-E924-1A19-E5DC-A1A62268C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8562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7DD60AF1-249C-D379-1A17-E045ACA7D081}"/>
              </a:ext>
            </a:extLst>
          </p:cNvPr>
          <p:cNvSpPr/>
          <p:nvPr/>
        </p:nvSpPr>
        <p:spPr>
          <a:xfrm>
            <a:off x="5358384" y="161848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Inconsistent Enforcement</a:t>
            </a:r>
            <a:endParaRPr lang="en-US" sz="13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B1F0E8F-1FEE-C841-D817-D0235B99FFE5}"/>
              </a:ext>
            </a:extLst>
          </p:cNvPr>
          <p:cNvSpPr/>
          <p:nvPr/>
        </p:nvSpPr>
        <p:spPr>
          <a:xfrm>
            <a:off x="5358384" y="196596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7415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Disciplinary decisions vary by person and department — no standardized logic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46C1473B-5F3E-AA26-9517-9BDE1DAB5712}"/>
              </a:ext>
            </a:extLst>
          </p:cNvPr>
          <p:cNvSpPr/>
          <p:nvPr/>
        </p:nvSpPr>
        <p:spPr>
          <a:xfrm>
            <a:off x="402336" y="2971800"/>
            <a:ext cx="4023360" cy="12344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/>
        </p:spPr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08B19DD0-0470-DB58-4CA2-26648B76BA69}"/>
              </a:ext>
            </a:extLst>
          </p:cNvPr>
          <p:cNvSpPr/>
          <p:nvPr/>
        </p:nvSpPr>
        <p:spPr>
          <a:xfrm>
            <a:off x="402336" y="2971800"/>
            <a:ext cx="73152" cy="12344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384E66BA-D811-66B8-FA7F-1DCE109A6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192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A559E92A-747D-D657-DAAF-A7691D6BD856}"/>
              </a:ext>
            </a:extLst>
          </p:cNvPr>
          <p:cNvSpPr/>
          <p:nvPr/>
        </p:nvSpPr>
        <p:spPr>
          <a:xfrm>
            <a:off x="1060704" y="308152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No Repeat-Offence Detection</a:t>
            </a:r>
            <a:endParaRPr lang="en-US" sz="13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BB62D6F4-56F4-F479-EE43-664B14F52E6D}"/>
              </a:ext>
            </a:extLst>
          </p:cNvPr>
          <p:cNvSpPr/>
          <p:nvPr/>
        </p:nvSpPr>
        <p:spPr>
          <a:xfrm>
            <a:off x="1060704" y="342900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7415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Repeat offenders go undetected because there's no system tracking patterns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55B75DF3-9194-2E23-AFF5-8B9556808511}"/>
              </a:ext>
            </a:extLst>
          </p:cNvPr>
          <p:cNvSpPr/>
          <p:nvPr/>
        </p:nvSpPr>
        <p:spPr>
          <a:xfrm>
            <a:off x="4700016" y="2971800"/>
            <a:ext cx="4023360" cy="12344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/>
        </p:spPr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DB8005FA-36E6-9A68-D822-67AB4C85F2D7}"/>
              </a:ext>
            </a:extLst>
          </p:cNvPr>
          <p:cNvSpPr/>
          <p:nvPr/>
        </p:nvSpPr>
        <p:spPr>
          <a:xfrm>
            <a:off x="4700016" y="2971800"/>
            <a:ext cx="73152" cy="12344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1EA992F6-B635-B737-023A-317B71529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3192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 17">
            <a:extLst>
              <a:ext uri="{FF2B5EF4-FFF2-40B4-BE49-F238E27FC236}">
                <a16:creationId xmlns:a16="http://schemas.microsoft.com/office/drawing/2014/main" id="{B6306661-B8CF-F554-B182-F467E4A2E01A}"/>
              </a:ext>
            </a:extLst>
          </p:cNvPr>
          <p:cNvSpPr/>
          <p:nvPr/>
        </p:nvSpPr>
        <p:spPr>
          <a:xfrm>
            <a:off x="5358384" y="308152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Zero Governance Oversight</a:t>
            </a:r>
            <a:endParaRPr lang="en-US" sz="13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39CE57F1-85AD-1483-421F-0EF3C8B7AA98}"/>
              </a:ext>
            </a:extLst>
          </p:cNvPr>
          <p:cNvSpPr/>
          <p:nvPr/>
        </p:nvSpPr>
        <p:spPr>
          <a:xfrm>
            <a:off x="5358384" y="342900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7415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Management has no real-time visibility into compliance health or risk exposure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474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A386E-8EE9-33EF-E9A1-99654B6E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AC041A-7402-0A38-C381-86C8C1C4999C}"/>
              </a:ext>
            </a:extLst>
          </p:cNvPr>
          <p:cNvSpPr/>
          <p:nvPr/>
        </p:nvSpPr>
        <p:spPr>
          <a:xfrm>
            <a:off x="0" y="5052060"/>
            <a:ext cx="9171595" cy="91440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1026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9B40EBC6-E863-B2D4-F689-4476AD1DA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0"/>
            <a:ext cx="1280160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5471CA22-215F-B34C-CA5B-17976C36AB73}"/>
              </a:ext>
            </a:extLst>
          </p:cNvPr>
          <p:cNvSpPr/>
          <p:nvPr/>
        </p:nvSpPr>
        <p:spPr>
          <a:xfrm>
            <a:off x="7685042" y="458300"/>
            <a:ext cx="1349230" cy="45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0000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THE SOLUTION</a:t>
            </a:r>
            <a:endParaRPr lang="en-US" sz="140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7F402FF9-EFDA-8422-E6D3-3314239FC68D}"/>
              </a:ext>
            </a:extLst>
          </p:cNvPr>
          <p:cNvSpPr/>
          <p:nvPr/>
        </p:nvSpPr>
        <p:spPr>
          <a:xfrm>
            <a:off x="370985" y="1076297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A0B4D0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PACT — A digital governance engine, not just a penalty tracker</a:t>
            </a:r>
            <a:endParaRPr lang="en-US" sz="9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4920F920-88FF-C7A7-779F-D564A6A9F1DB}"/>
              </a:ext>
            </a:extLst>
          </p:cNvPr>
          <p:cNvSpPr/>
          <p:nvPr/>
        </p:nvSpPr>
        <p:spPr>
          <a:xfrm>
            <a:off x="365760" y="1410951"/>
            <a:ext cx="274320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B2B378F-60A1-9270-30B8-4BAFC1AF0A81}"/>
              </a:ext>
            </a:extLst>
          </p:cNvPr>
          <p:cNvSpPr/>
          <p:nvPr/>
        </p:nvSpPr>
        <p:spPr>
          <a:xfrm>
            <a:off x="365760" y="1410951"/>
            <a:ext cx="27432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6993BB15-FC6B-7333-423E-CF26CEC5A247}"/>
              </a:ext>
            </a:extLst>
          </p:cNvPr>
          <p:cNvSpPr/>
          <p:nvPr/>
        </p:nvSpPr>
        <p:spPr>
          <a:xfrm>
            <a:off x="475488" y="1593831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158FDB8C-DC51-21F9-20F2-A03747FD1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593831"/>
            <a:ext cx="457200" cy="457200"/>
          </a:xfrm>
          <a:prstGeom prst="rect">
            <a:avLst/>
          </a:prstGeom>
          <a:solidFill>
            <a:srgbClr val="262626"/>
          </a:solidFill>
        </p:spPr>
      </p:pic>
      <p:sp>
        <p:nvSpPr>
          <p:cNvPr id="30" name="Text 6">
            <a:extLst>
              <a:ext uri="{FF2B5EF4-FFF2-40B4-BE49-F238E27FC236}">
                <a16:creationId xmlns:a16="http://schemas.microsoft.com/office/drawing/2014/main" id="{682D4BA7-7536-1C36-2876-975F88AD2C13}"/>
              </a:ext>
            </a:extLst>
          </p:cNvPr>
          <p:cNvSpPr/>
          <p:nvPr/>
        </p:nvSpPr>
        <p:spPr>
          <a:xfrm>
            <a:off x="1024128" y="1639551"/>
            <a:ext cx="1975104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Digital Incident Capture</a:t>
            </a:r>
            <a:endParaRPr lang="en-US" sz="11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FF66ABDD-C6F5-24A5-87D5-94B82E3D548E}"/>
              </a:ext>
            </a:extLst>
          </p:cNvPr>
          <p:cNvSpPr/>
          <p:nvPr/>
        </p:nvSpPr>
        <p:spPr>
          <a:xfrm>
            <a:off x="475488" y="2124183"/>
            <a:ext cx="2523744" cy="56692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Every breach is logged, timestamped, and permanently recorded</a:t>
            </a:r>
            <a:endParaRPr lang="en-US" sz="10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24" name="Shape 8">
            <a:extLst>
              <a:ext uri="{FF2B5EF4-FFF2-40B4-BE49-F238E27FC236}">
                <a16:creationId xmlns:a16="http://schemas.microsoft.com/office/drawing/2014/main" id="{6A24908C-F884-0F88-00E8-155A056F2ED1}"/>
              </a:ext>
            </a:extLst>
          </p:cNvPr>
          <p:cNvSpPr/>
          <p:nvPr/>
        </p:nvSpPr>
        <p:spPr>
          <a:xfrm>
            <a:off x="3310128" y="1410951"/>
            <a:ext cx="274320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/>
        </p:spPr>
      </p:sp>
      <p:sp>
        <p:nvSpPr>
          <p:cNvPr id="1025" name="Shape 9">
            <a:extLst>
              <a:ext uri="{FF2B5EF4-FFF2-40B4-BE49-F238E27FC236}">
                <a16:creationId xmlns:a16="http://schemas.microsoft.com/office/drawing/2014/main" id="{CA14EA5C-26FC-44B8-AEFB-74244F094AD3}"/>
              </a:ext>
            </a:extLst>
          </p:cNvPr>
          <p:cNvSpPr/>
          <p:nvPr/>
        </p:nvSpPr>
        <p:spPr>
          <a:xfrm>
            <a:off x="3310128" y="1410951"/>
            <a:ext cx="27432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027" name="Shape 10">
            <a:extLst>
              <a:ext uri="{FF2B5EF4-FFF2-40B4-BE49-F238E27FC236}">
                <a16:creationId xmlns:a16="http://schemas.microsoft.com/office/drawing/2014/main" id="{2DC39F8A-64C5-A28C-7256-A3B19C6C541C}"/>
              </a:ext>
            </a:extLst>
          </p:cNvPr>
          <p:cNvSpPr/>
          <p:nvPr/>
        </p:nvSpPr>
        <p:spPr>
          <a:xfrm>
            <a:off x="3419856" y="1593831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029" name="Image 1" descr="preencoded.png">
            <a:extLst>
              <a:ext uri="{FF2B5EF4-FFF2-40B4-BE49-F238E27FC236}">
                <a16:creationId xmlns:a16="http://schemas.microsoft.com/office/drawing/2014/main" id="{03612E38-9BA1-A80B-5ED0-693A20C72E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1593831"/>
            <a:ext cx="457200" cy="457200"/>
          </a:xfrm>
          <a:prstGeom prst="rect">
            <a:avLst/>
          </a:prstGeom>
          <a:solidFill>
            <a:srgbClr val="262626"/>
          </a:solidFill>
        </p:spPr>
      </p:pic>
      <p:sp>
        <p:nvSpPr>
          <p:cNvPr id="1030" name="Text 11">
            <a:extLst>
              <a:ext uri="{FF2B5EF4-FFF2-40B4-BE49-F238E27FC236}">
                <a16:creationId xmlns:a16="http://schemas.microsoft.com/office/drawing/2014/main" id="{D77CE9F0-0FBA-FA54-7264-AB4C7C5F115E}"/>
              </a:ext>
            </a:extLst>
          </p:cNvPr>
          <p:cNvSpPr/>
          <p:nvPr/>
        </p:nvSpPr>
        <p:spPr>
          <a:xfrm>
            <a:off x="3968496" y="1639551"/>
            <a:ext cx="1975104" cy="32004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Tier 1–3 Policy Engine</a:t>
            </a:r>
            <a:endParaRPr lang="en-US" sz="11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31" name="Text 12">
            <a:extLst>
              <a:ext uri="{FF2B5EF4-FFF2-40B4-BE49-F238E27FC236}">
                <a16:creationId xmlns:a16="http://schemas.microsoft.com/office/drawing/2014/main" id="{CCF94900-B8EF-BC09-FFAB-D8FCAD22FC7B}"/>
              </a:ext>
            </a:extLst>
          </p:cNvPr>
          <p:cNvSpPr/>
          <p:nvPr/>
        </p:nvSpPr>
        <p:spPr>
          <a:xfrm>
            <a:off x="3419856" y="2124183"/>
            <a:ext cx="2523744" cy="566928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Offences automatically classified and mapped to the correct disciplinary action</a:t>
            </a:r>
            <a:endParaRPr lang="en-US" sz="10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32" name="Shape 13">
            <a:extLst>
              <a:ext uri="{FF2B5EF4-FFF2-40B4-BE49-F238E27FC236}">
                <a16:creationId xmlns:a16="http://schemas.microsoft.com/office/drawing/2014/main" id="{B96E10E6-DCEB-D2A3-E04F-809D3D35FDEC}"/>
              </a:ext>
            </a:extLst>
          </p:cNvPr>
          <p:cNvSpPr/>
          <p:nvPr/>
        </p:nvSpPr>
        <p:spPr>
          <a:xfrm>
            <a:off x="6254496" y="1410951"/>
            <a:ext cx="274320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/>
        </p:spPr>
      </p:sp>
      <p:sp>
        <p:nvSpPr>
          <p:cNvPr id="1033" name="Shape 14">
            <a:extLst>
              <a:ext uri="{FF2B5EF4-FFF2-40B4-BE49-F238E27FC236}">
                <a16:creationId xmlns:a16="http://schemas.microsoft.com/office/drawing/2014/main" id="{BCCB523D-9E8D-E161-F4F6-BBF3AFB6B7FF}"/>
              </a:ext>
            </a:extLst>
          </p:cNvPr>
          <p:cNvSpPr/>
          <p:nvPr/>
        </p:nvSpPr>
        <p:spPr>
          <a:xfrm>
            <a:off x="6254496" y="1410951"/>
            <a:ext cx="27432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034" name="Shape 15">
            <a:extLst>
              <a:ext uri="{FF2B5EF4-FFF2-40B4-BE49-F238E27FC236}">
                <a16:creationId xmlns:a16="http://schemas.microsoft.com/office/drawing/2014/main" id="{7DDC7309-865B-9FC5-5D48-35AFBF6C3E53}"/>
              </a:ext>
            </a:extLst>
          </p:cNvPr>
          <p:cNvSpPr/>
          <p:nvPr/>
        </p:nvSpPr>
        <p:spPr>
          <a:xfrm>
            <a:off x="6364224" y="1593831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035" name="Image 2" descr="preencoded.png">
            <a:extLst>
              <a:ext uri="{FF2B5EF4-FFF2-40B4-BE49-F238E27FC236}">
                <a16:creationId xmlns:a16="http://schemas.microsoft.com/office/drawing/2014/main" id="{BF1D9D40-B696-ECCE-3DFE-CE3BE4FB7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1593831"/>
            <a:ext cx="457200" cy="457200"/>
          </a:xfrm>
          <a:prstGeom prst="rect">
            <a:avLst/>
          </a:prstGeom>
          <a:solidFill>
            <a:srgbClr val="262626"/>
          </a:solidFill>
        </p:spPr>
      </p:pic>
      <p:sp>
        <p:nvSpPr>
          <p:cNvPr id="1036" name="Text 16">
            <a:extLst>
              <a:ext uri="{FF2B5EF4-FFF2-40B4-BE49-F238E27FC236}">
                <a16:creationId xmlns:a16="http://schemas.microsoft.com/office/drawing/2014/main" id="{53084E8E-F250-8111-83A0-42F44D4683CA}"/>
              </a:ext>
            </a:extLst>
          </p:cNvPr>
          <p:cNvSpPr/>
          <p:nvPr/>
        </p:nvSpPr>
        <p:spPr>
          <a:xfrm>
            <a:off x="6912864" y="1639551"/>
            <a:ext cx="1975104" cy="32004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Repeat-Offence Detection</a:t>
            </a:r>
            <a:endParaRPr lang="en-US" sz="11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37" name="Text 17">
            <a:extLst>
              <a:ext uri="{FF2B5EF4-FFF2-40B4-BE49-F238E27FC236}">
                <a16:creationId xmlns:a16="http://schemas.microsoft.com/office/drawing/2014/main" id="{196EE81C-BC67-D41E-488F-A59D33B778F6}"/>
              </a:ext>
            </a:extLst>
          </p:cNvPr>
          <p:cNvSpPr/>
          <p:nvPr/>
        </p:nvSpPr>
        <p:spPr>
          <a:xfrm>
            <a:off x="6364224" y="2051031"/>
            <a:ext cx="2523744" cy="566928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System tracks behaviour patterns and flags repeat offenders proactively</a:t>
            </a:r>
            <a:endParaRPr lang="en-US" sz="10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38" name="Shape 18">
            <a:extLst>
              <a:ext uri="{FF2B5EF4-FFF2-40B4-BE49-F238E27FC236}">
                <a16:creationId xmlns:a16="http://schemas.microsoft.com/office/drawing/2014/main" id="{40F7A454-5355-365A-8D1C-34ED1E1FDCB9}"/>
              </a:ext>
            </a:extLst>
          </p:cNvPr>
          <p:cNvSpPr/>
          <p:nvPr/>
        </p:nvSpPr>
        <p:spPr>
          <a:xfrm>
            <a:off x="365760" y="3011151"/>
            <a:ext cx="274320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/>
        </p:spPr>
      </p:sp>
      <p:sp>
        <p:nvSpPr>
          <p:cNvPr id="1039" name="Shape 19">
            <a:extLst>
              <a:ext uri="{FF2B5EF4-FFF2-40B4-BE49-F238E27FC236}">
                <a16:creationId xmlns:a16="http://schemas.microsoft.com/office/drawing/2014/main" id="{CA01DC74-905A-7E61-3357-E8AB671EB3BE}"/>
              </a:ext>
            </a:extLst>
          </p:cNvPr>
          <p:cNvSpPr/>
          <p:nvPr/>
        </p:nvSpPr>
        <p:spPr>
          <a:xfrm>
            <a:off x="365760" y="3011151"/>
            <a:ext cx="27432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040" name="Shape 20">
            <a:extLst>
              <a:ext uri="{FF2B5EF4-FFF2-40B4-BE49-F238E27FC236}">
                <a16:creationId xmlns:a16="http://schemas.microsoft.com/office/drawing/2014/main" id="{9E498776-7C86-91ED-C118-A5DB3BAF0D69}"/>
              </a:ext>
            </a:extLst>
          </p:cNvPr>
          <p:cNvSpPr/>
          <p:nvPr/>
        </p:nvSpPr>
        <p:spPr>
          <a:xfrm>
            <a:off x="475488" y="3194031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041" name="Image 3" descr="preencoded.png">
            <a:extLst>
              <a:ext uri="{FF2B5EF4-FFF2-40B4-BE49-F238E27FC236}">
                <a16:creationId xmlns:a16="http://schemas.microsoft.com/office/drawing/2014/main" id="{227984DF-9002-E3DB-4F9E-DA0699F5A3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194031"/>
            <a:ext cx="457200" cy="457200"/>
          </a:xfrm>
          <a:prstGeom prst="rect">
            <a:avLst/>
          </a:prstGeom>
          <a:solidFill>
            <a:srgbClr val="262626"/>
          </a:solidFill>
        </p:spPr>
      </p:pic>
      <p:sp>
        <p:nvSpPr>
          <p:cNvPr id="1042" name="Text 21">
            <a:extLst>
              <a:ext uri="{FF2B5EF4-FFF2-40B4-BE49-F238E27FC236}">
                <a16:creationId xmlns:a16="http://schemas.microsoft.com/office/drawing/2014/main" id="{867CF7EA-3109-E57B-14C7-82B50A5090D0}"/>
              </a:ext>
            </a:extLst>
          </p:cNvPr>
          <p:cNvSpPr/>
          <p:nvPr/>
        </p:nvSpPr>
        <p:spPr>
          <a:xfrm>
            <a:off x="1024128" y="3239751"/>
            <a:ext cx="1975104" cy="32004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Automated Escalation</a:t>
            </a:r>
            <a:endParaRPr lang="en-US" sz="11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43" name="Text 22">
            <a:extLst>
              <a:ext uri="{FF2B5EF4-FFF2-40B4-BE49-F238E27FC236}">
                <a16:creationId xmlns:a16="http://schemas.microsoft.com/office/drawing/2014/main" id="{2F746A8C-A8E7-D422-063D-AF03AF53674A}"/>
              </a:ext>
            </a:extLst>
          </p:cNvPr>
          <p:cNvSpPr/>
          <p:nvPr/>
        </p:nvSpPr>
        <p:spPr>
          <a:xfrm>
            <a:off x="475488" y="3651231"/>
            <a:ext cx="2523744" cy="566928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Tier 1 → Tier 2 escalation triggered automatically after 3 offences within 6 months</a:t>
            </a:r>
            <a:endParaRPr lang="en-US" sz="10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44" name="Shape 23">
            <a:extLst>
              <a:ext uri="{FF2B5EF4-FFF2-40B4-BE49-F238E27FC236}">
                <a16:creationId xmlns:a16="http://schemas.microsoft.com/office/drawing/2014/main" id="{C4FBD388-BBB1-3824-4F3A-B6C9260D4C83}"/>
              </a:ext>
            </a:extLst>
          </p:cNvPr>
          <p:cNvSpPr/>
          <p:nvPr/>
        </p:nvSpPr>
        <p:spPr>
          <a:xfrm>
            <a:off x="3310128" y="3011151"/>
            <a:ext cx="274320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/>
        </p:spPr>
      </p:sp>
      <p:sp>
        <p:nvSpPr>
          <p:cNvPr id="1045" name="Shape 24">
            <a:extLst>
              <a:ext uri="{FF2B5EF4-FFF2-40B4-BE49-F238E27FC236}">
                <a16:creationId xmlns:a16="http://schemas.microsoft.com/office/drawing/2014/main" id="{AEE2209D-D264-0F46-4B72-C87FEF36171D}"/>
              </a:ext>
            </a:extLst>
          </p:cNvPr>
          <p:cNvSpPr/>
          <p:nvPr/>
        </p:nvSpPr>
        <p:spPr>
          <a:xfrm>
            <a:off x="3310128" y="3011151"/>
            <a:ext cx="27432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046" name="Shape 25">
            <a:extLst>
              <a:ext uri="{FF2B5EF4-FFF2-40B4-BE49-F238E27FC236}">
                <a16:creationId xmlns:a16="http://schemas.microsoft.com/office/drawing/2014/main" id="{7050F017-5127-038D-0217-F7DAFCB4DFE1}"/>
              </a:ext>
            </a:extLst>
          </p:cNvPr>
          <p:cNvSpPr/>
          <p:nvPr/>
        </p:nvSpPr>
        <p:spPr>
          <a:xfrm>
            <a:off x="3419856" y="3194031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047" name="Image 4" descr="preencoded.png">
            <a:extLst>
              <a:ext uri="{FF2B5EF4-FFF2-40B4-BE49-F238E27FC236}">
                <a16:creationId xmlns:a16="http://schemas.microsoft.com/office/drawing/2014/main" id="{15D91173-4FFF-1471-2496-D6337B80B5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856" y="3194031"/>
            <a:ext cx="457200" cy="457200"/>
          </a:xfrm>
          <a:prstGeom prst="rect">
            <a:avLst/>
          </a:prstGeom>
          <a:solidFill>
            <a:srgbClr val="262626"/>
          </a:solidFill>
        </p:spPr>
      </p:pic>
      <p:sp>
        <p:nvSpPr>
          <p:cNvPr id="1048" name="Text 26">
            <a:extLst>
              <a:ext uri="{FF2B5EF4-FFF2-40B4-BE49-F238E27FC236}">
                <a16:creationId xmlns:a16="http://schemas.microsoft.com/office/drawing/2014/main" id="{3F04461B-7F68-16F2-CED4-37AB60AC9280}"/>
              </a:ext>
            </a:extLst>
          </p:cNvPr>
          <p:cNvSpPr/>
          <p:nvPr/>
        </p:nvSpPr>
        <p:spPr>
          <a:xfrm>
            <a:off x="3968496" y="3239751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Executive Dashboard</a:t>
            </a:r>
            <a:endParaRPr lang="en-US" sz="11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49" name="Text 27">
            <a:extLst>
              <a:ext uri="{FF2B5EF4-FFF2-40B4-BE49-F238E27FC236}">
                <a16:creationId xmlns:a16="http://schemas.microsoft.com/office/drawing/2014/main" id="{63204EE0-BE7F-C2E2-E995-BD82C626B09E}"/>
              </a:ext>
            </a:extLst>
          </p:cNvPr>
          <p:cNvSpPr/>
          <p:nvPr/>
        </p:nvSpPr>
        <p:spPr>
          <a:xfrm>
            <a:off x="3419856" y="3651231"/>
            <a:ext cx="2523744" cy="566928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Real-time visibility for management on compliance posture and risk levels</a:t>
            </a:r>
            <a:endParaRPr lang="en-US" sz="10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50" name="Shape 28">
            <a:extLst>
              <a:ext uri="{FF2B5EF4-FFF2-40B4-BE49-F238E27FC236}">
                <a16:creationId xmlns:a16="http://schemas.microsoft.com/office/drawing/2014/main" id="{5E1FD160-5DD0-18D9-7505-64983ECD672B}"/>
              </a:ext>
            </a:extLst>
          </p:cNvPr>
          <p:cNvSpPr/>
          <p:nvPr/>
        </p:nvSpPr>
        <p:spPr>
          <a:xfrm>
            <a:off x="6254496" y="3011151"/>
            <a:ext cx="274320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  <a:effectLst/>
        </p:spPr>
      </p:sp>
      <p:sp>
        <p:nvSpPr>
          <p:cNvPr id="1051" name="Shape 29">
            <a:extLst>
              <a:ext uri="{FF2B5EF4-FFF2-40B4-BE49-F238E27FC236}">
                <a16:creationId xmlns:a16="http://schemas.microsoft.com/office/drawing/2014/main" id="{DAD17E50-48C7-A772-1A16-C854A9CD768F}"/>
              </a:ext>
            </a:extLst>
          </p:cNvPr>
          <p:cNvSpPr/>
          <p:nvPr/>
        </p:nvSpPr>
        <p:spPr>
          <a:xfrm>
            <a:off x="6254496" y="3011151"/>
            <a:ext cx="27432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052" name="Shape 30">
            <a:extLst>
              <a:ext uri="{FF2B5EF4-FFF2-40B4-BE49-F238E27FC236}">
                <a16:creationId xmlns:a16="http://schemas.microsoft.com/office/drawing/2014/main" id="{9E93D40C-8CCE-30B7-F3D8-95E7E6F2EF99}"/>
              </a:ext>
            </a:extLst>
          </p:cNvPr>
          <p:cNvSpPr/>
          <p:nvPr/>
        </p:nvSpPr>
        <p:spPr>
          <a:xfrm>
            <a:off x="6364224" y="3194031"/>
            <a:ext cx="457200" cy="4572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053" name="Image 5" descr="preencoded.png">
            <a:extLst>
              <a:ext uri="{FF2B5EF4-FFF2-40B4-BE49-F238E27FC236}">
                <a16:creationId xmlns:a16="http://schemas.microsoft.com/office/drawing/2014/main" id="{C386E7C4-B2E9-FA71-B5C0-C0D64E8EE8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224" y="3194031"/>
            <a:ext cx="457200" cy="457200"/>
          </a:xfrm>
          <a:prstGeom prst="rect">
            <a:avLst/>
          </a:prstGeom>
          <a:solidFill>
            <a:srgbClr val="262626"/>
          </a:solidFill>
        </p:spPr>
      </p:pic>
      <p:sp>
        <p:nvSpPr>
          <p:cNvPr id="1054" name="Text 31">
            <a:extLst>
              <a:ext uri="{FF2B5EF4-FFF2-40B4-BE49-F238E27FC236}">
                <a16:creationId xmlns:a16="http://schemas.microsoft.com/office/drawing/2014/main" id="{4972B9E0-479C-8163-220E-A076EE56F4DD}"/>
              </a:ext>
            </a:extLst>
          </p:cNvPr>
          <p:cNvSpPr/>
          <p:nvPr/>
        </p:nvSpPr>
        <p:spPr>
          <a:xfrm>
            <a:off x="6912864" y="3239751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Audit-Ready Records</a:t>
            </a:r>
            <a:endParaRPr lang="en-US" sz="11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55" name="Text 32">
            <a:extLst>
              <a:ext uri="{FF2B5EF4-FFF2-40B4-BE49-F238E27FC236}">
                <a16:creationId xmlns:a16="http://schemas.microsoft.com/office/drawing/2014/main" id="{F534610F-C7D8-5E78-888B-F02511781831}"/>
              </a:ext>
            </a:extLst>
          </p:cNvPr>
          <p:cNvSpPr/>
          <p:nvPr/>
        </p:nvSpPr>
        <p:spPr>
          <a:xfrm>
            <a:off x="6364224" y="3651231"/>
            <a:ext cx="2523744" cy="566928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62626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Immutable case histories for regulatory and governance review</a:t>
            </a:r>
            <a:endParaRPr lang="en-US" sz="1000">
              <a:solidFill>
                <a:srgbClr val="262626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112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5410E-4C44-E59B-5308-5F86D4F0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08ED2C-D190-DAFF-4D67-CEB1A90041DF}"/>
              </a:ext>
            </a:extLst>
          </p:cNvPr>
          <p:cNvSpPr/>
          <p:nvPr/>
        </p:nvSpPr>
        <p:spPr>
          <a:xfrm>
            <a:off x="0" y="5060666"/>
            <a:ext cx="9171595" cy="91440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1026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5A03FAE9-CCF3-1D42-C638-3D376B32A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-137159"/>
            <a:ext cx="1280160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39AB61DC-FAA5-472E-1BE9-F7020799A958}"/>
              </a:ext>
            </a:extLst>
          </p:cNvPr>
          <p:cNvSpPr/>
          <p:nvPr/>
        </p:nvSpPr>
        <p:spPr>
          <a:xfrm>
            <a:off x="5623560" y="243296"/>
            <a:ext cx="3410712" cy="45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0000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 TIERED COMPLIANCE FRAMEWORK</a:t>
            </a:r>
            <a:endParaRPr lang="en-US" sz="140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D474071-5874-E317-EC4E-20E46D2731EC}"/>
              </a:ext>
            </a:extLst>
          </p:cNvPr>
          <p:cNvSpPr/>
          <p:nvPr/>
        </p:nvSpPr>
        <p:spPr>
          <a:xfrm>
            <a:off x="274320" y="930081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Three structured tiers of disciplinary enforcement — automated and consistent</a:t>
            </a:r>
            <a:endParaRPr lang="en-US" sz="9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2B3887CA-2B94-5830-5D8D-D2940B5FA98F}"/>
              </a:ext>
            </a:extLst>
          </p:cNvPr>
          <p:cNvSpPr/>
          <p:nvPr/>
        </p:nvSpPr>
        <p:spPr>
          <a:xfrm>
            <a:off x="274320" y="1234441"/>
            <a:ext cx="859536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/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580A4160-B3D2-C840-DD05-F7E4DA8F828A}"/>
              </a:ext>
            </a:extLst>
          </p:cNvPr>
          <p:cNvSpPr/>
          <p:nvPr/>
        </p:nvSpPr>
        <p:spPr>
          <a:xfrm>
            <a:off x="274320" y="1234441"/>
            <a:ext cx="1097280" cy="10058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B479A6E-ED6C-E2AB-8BB1-9AC08423BCBC}"/>
              </a:ext>
            </a:extLst>
          </p:cNvPr>
          <p:cNvSpPr/>
          <p:nvPr/>
        </p:nvSpPr>
        <p:spPr>
          <a:xfrm>
            <a:off x="274320" y="1234441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>
                <a:solidFill>
                  <a:srgbClr val="FFFFFF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TIER 1</a:t>
            </a:r>
            <a:endParaRPr lang="en-US" sz="14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EFA43F10-F988-3D76-CE30-06E111B2D211}"/>
              </a:ext>
            </a:extLst>
          </p:cNvPr>
          <p:cNvSpPr/>
          <p:nvPr/>
        </p:nvSpPr>
        <p:spPr>
          <a:xfrm>
            <a:off x="1508760" y="1325881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Workplace Conduct &amp; Operational Discipline</a:t>
            </a:r>
            <a:endParaRPr lang="en-US" sz="12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68C40B9-1B40-31FB-2722-A0378F97D51A}"/>
              </a:ext>
            </a:extLst>
          </p:cNvPr>
          <p:cNvSpPr/>
          <p:nvPr/>
        </p:nvSpPr>
        <p:spPr>
          <a:xfrm>
            <a:off x="1508760" y="167335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64748B"/>
                </a:solidFill>
                <a:latin typeface="Biome"/>
                <a:ea typeface="Arial" pitchFamily="34" charset="-122"/>
                <a:cs typeface="Biome"/>
              </a:rPr>
              <a:t>Dress code · Late to work · Unauthorized absence · Disrespectful </a:t>
            </a:r>
            <a:r>
              <a:rPr lang="en-US" sz="1000" i="1">
                <a:solidFill>
                  <a:srgbClr val="64748B"/>
                </a:solidFill>
                <a:latin typeface="Biome"/>
                <a:ea typeface="Arial" pitchFamily="34" charset="-122"/>
                <a:cs typeface="Biome"/>
              </a:rPr>
              <a:t>conduct · DDP Contravention etc.</a:t>
            </a:r>
            <a:endParaRPr lang="en-US" sz="10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85B934E-DD6A-9A76-11FA-6B0E5D22CF4C}"/>
              </a:ext>
            </a:extLst>
          </p:cNvPr>
          <p:cNvSpPr/>
          <p:nvPr/>
        </p:nvSpPr>
        <p:spPr>
          <a:xfrm>
            <a:off x="5760720" y="1330240"/>
            <a:ext cx="2926080" cy="873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900" b="1">
                <a:solidFill>
                  <a:srgbClr val="E8A020"/>
                </a:solidFill>
                <a:latin typeface="Biome"/>
                <a:ea typeface="Arial" pitchFamily="34" charset="-122"/>
                <a:cs typeface="Biome"/>
              </a:rPr>
              <a:t>1st: P5</a:t>
            </a:r>
            <a:endParaRPr lang="en-US" sz="900" b="1">
              <a:solidFill>
                <a:srgbClr val="000000"/>
              </a:solidFill>
              <a:latin typeface="Biome"/>
              <a:ea typeface="Arial" pitchFamily="34" charset="-122"/>
              <a:cs typeface="Biome"/>
            </a:endParaRPr>
          </a:p>
          <a:p>
            <a:pPr marL="171450" indent="-171450">
              <a:buFont typeface="Arial"/>
              <a:buChar char="•"/>
            </a:pPr>
            <a:r>
              <a:rPr lang="en-US" sz="900" b="1">
                <a:solidFill>
                  <a:srgbClr val="E8A020"/>
                </a:solidFill>
                <a:latin typeface="Biome"/>
                <a:ea typeface="Arial" pitchFamily="34" charset="-122"/>
                <a:cs typeface="Biome"/>
              </a:rPr>
              <a:t>2nd: P5 &amp; A CBT on the subject or related subject  </a:t>
            </a:r>
            <a:endParaRPr lang="en-US" sz="900" b="1">
              <a:solidFill>
                <a:srgbClr val="000000"/>
              </a:solidFill>
              <a:latin typeface="Biome"/>
              <a:ea typeface="Arial" pitchFamily="34" charset="-122"/>
              <a:cs typeface="Biome"/>
            </a:endParaRPr>
          </a:p>
          <a:p>
            <a:pPr marL="171450" indent="-171450">
              <a:buFont typeface="Arial"/>
              <a:buChar char="•"/>
            </a:pPr>
            <a:r>
              <a:rPr lang="en-US" sz="900" b="1" dirty="0">
                <a:solidFill>
                  <a:srgbClr val="E8A020"/>
                </a:solidFill>
                <a:latin typeface="Biome"/>
                <a:ea typeface="Arial" pitchFamily="34" charset="-122"/>
                <a:cs typeface="Biome"/>
              </a:rPr>
              <a:t>Further </a:t>
            </a:r>
            <a:r>
              <a:rPr lang="en-US" sz="900" b="1">
                <a:solidFill>
                  <a:srgbClr val="E8A020"/>
                </a:solidFill>
                <a:latin typeface="Biome"/>
                <a:ea typeface="Arial" pitchFamily="34" charset="-122"/>
                <a:cs typeface="Biome"/>
              </a:rPr>
              <a:t>Reoccurrences: P5 &amp; 1% deduction </a:t>
            </a:r>
            <a:r>
              <a:rPr lang="en-US" sz="900" b="1" dirty="0">
                <a:solidFill>
                  <a:srgbClr val="E8A020"/>
                </a:solidFill>
                <a:latin typeface="Biome"/>
                <a:ea typeface="Arial" pitchFamily="34" charset="-122"/>
                <a:cs typeface="Biome"/>
              </a:rPr>
              <a:t>from KREST score</a:t>
            </a:r>
            <a:endParaRPr lang="en-US" sz="900" b="1">
              <a:latin typeface="Biome"/>
              <a:cs typeface="Biome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94D72292-5411-829E-1D90-CF6A50FCD371}"/>
              </a:ext>
            </a:extLst>
          </p:cNvPr>
          <p:cNvSpPr/>
          <p:nvPr/>
        </p:nvSpPr>
        <p:spPr>
          <a:xfrm>
            <a:off x="274320" y="2377441"/>
            <a:ext cx="859536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/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A4D7861A-8C37-375D-83F1-3FE65E049A22}"/>
              </a:ext>
            </a:extLst>
          </p:cNvPr>
          <p:cNvSpPr/>
          <p:nvPr/>
        </p:nvSpPr>
        <p:spPr>
          <a:xfrm>
            <a:off x="274320" y="2377441"/>
            <a:ext cx="1097280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C06F06BF-AF2A-6A8F-48C5-F1E60F267967}"/>
              </a:ext>
            </a:extLst>
          </p:cNvPr>
          <p:cNvSpPr/>
          <p:nvPr/>
        </p:nvSpPr>
        <p:spPr>
          <a:xfrm>
            <a:off x="274320" y="2377441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>
                <a:solidFill>
                  <a:srgbClr val="FFFFFF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TIER 2</a:t>
            </a:r>
            <a:endParaRPr lang="en-US" sz="14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2305B43E-21DA-7899-051F-D3C5537EF75D}"/>
              </a:ext>
            </a:extLst>
          </p:cNvPr>
          <p:cNvSpPr/>
          <p:nvPr/>
        </p:nvSpPr>
        <p:spPr>
          <a:xfrm>
            <a:off x="1508760" y="2468881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Project Integrity &amp; Internal Process Control</a:t>
            </a:r>
            <a:endParaRPr lang="en-US" sz="12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F75C3757-A20F-88A6-8CE6-342283464596}"/>
              </a:ext>
            </a:extLst>
          </p:cNvPr>
          <p:cNvSpPr/>
          <p:nvPr/>
        </p:nvSpPr>
        <p:spPr>
          <a:xfrm>
            <a:off x="1508760" y="281635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Biome"/>
                <a:ea typeface="Arial" pitchFamily="34" charset="-122"/>
                <a:cs typeface="Biome"/>
              </a:rPr>
              <a:t>Procurement breach · Falsification of </a:t>
            </a:r>
            <a:r>
              <a:rPr lang="en-US" sz="1000" i="1" dirty="0">
                <a:solidFill>
                  <a:srgbClr val="64748B"/>
                </a:solidFill>
                <a:latin typeface="Biome"/>
                <a:ea typeface="Arial" pitchFamily="34" charset="-122"/>
                <a:cs typeface="Biome"/>
              </a:rPr>
              <a:t>records</a:t>
            </a:r>
            <a:endParaRPr lang="en-US" sz="1000" dirty="0">
              <a:latin typeface="Biome"/>
              <a:cs typeface="Biome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88F47946-CA74-C026-C017-34E6475F480B}"/>
              </a:ext>
            </a:extLst>
          </p:cNvPr>
          <p:cNvSpPr/>
          <p:nvPr/>
        </p:nvSpPr>
        <p:spPr>
          <a:xfrm>
            <a:off x="274320" y="3528061"/>
            <a:ext cx="859536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/>
        </p:spPr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6A15A050-E437-8F4D-821C-479A0A870455}"/>
              </a:ext>
            </a:extLst>
          </p:cNvPr>
          <p:cNvSpPr/>
          <p:nvPr/>
        </p:nvSpPr>
        <p:spPr>
          <a:xfrm>
            <a:off x="274320" y="3520441"/>
            <a:ext cx="1097280" cy="1005840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875FCF29-0051-9074-EC92-10F6B2FE6C2A}"/>
              </a:ext>
            </a:extLst>
          </p:cNvPr>
          <p:cNvSpPr/>
          <p:nvPr/>
        </p:nvSpPr>
        <p:spPr>
          <a:xfrm>
            <a:off x="274320" y="3520441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>
                <a:solidFill>
                  <a:srgbClr val="FFFFFF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TIER 3</a:t>
            </a:r>
            <a:endParaRPr lang="en-US" sz="14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0CF6DD25-5964-C3FD-0E94-31999EE0D947}"/>
              </a:ext>
            </a:extLst>
          </p:cNvPr>
          <p:cNvSpPr/>
          <p:nvPr/>
        </p:nvSpPr>
        <p:spPr>
          <a:xfrm>
            <a:off x="1508760" y="3611881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Strategic Resilience &amp; Enterprise Reputation</a:t>
            </a:r>
            <a:endParaRPr lang="en-US" sz="12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8BD9713E-C0F6-DBBC-D29E-01A662D20D14}"/>
              </a:ext>
            </a:extLst>
          </p:cNvPr>
          <p:cNvSpPr/>
          <p:nvPr/>
        </p:nvSpPr>
        <p:spPr>
          <a:xfrm>
            <a:off x="1508760" y="395935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Confidentiality breach · Fraud · Conflict of interest</a:t>
            </a:r>
            <a:endParaRPr lang="en-US" sz="10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9DD07D9F-B1EA-BCB5-BE58-682A98BFABCE}"/>
              </a:ext>
            </a:extLst>
          </p:cNvPr>
          <p:cNvSpPr/>
          <p:nvPr/>
        </p:nvSpPr>
        <p:spPr>
          <a:xfrm>
            <a:off x="1508760" y="4678681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  Auto-escalation: 3 Tier 1 offences within 6 months → automatically triggers Tier 2 classification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72565742-8FEB-F3E6-AB7E-5A3B83CA7277}"/>
              </a:ext>
            </a:extLst>
          </p:cNvPr>
          <p:cNvSpPr/>
          <p:nvPr/>
        </p:nvSpPr>
        <p:spPr>
          <a:xfrm>
            <a:off x="5760720" y="2441193"/>
            <a:ext cx="2926080" cy="873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900" b="1">
                <a:solidFill>
                  <a:srgbClr val="FF0000"/>
                </a:solidFill>
                <a:latin typeface="Biome"/>
                <a:ea typeface="Arial" pitchFamily="34" charset="-122"/>
                <a:cs typeface="Biome"/>
              </a:rPr>
              <a:t>1st: P5 &amp; A CBT on the subject or related subject</a:t>
            </a:r>
          </a:p>
          <a:p>
            <a:pPr marL="171450" indent="-171450">
              <a:buFont typeface="Arial"/>
              <a:buChar char="•"/>
            </a:pPr>
            <a:r>
              <a:rPr lang="en-US" sz="900" b="1">
                <a:solidFill>
                  <a:srgbClr val="FF0000"/>
                </a:solidFill>
                <a:latin typeface="Biome"/>
                <a:ea typeface="Arial" pitchFamily="34" charset="-122"/>
                <a:cs typeface="Biome"/>
              </a:rPr>
              <a:t>2nd: P5 &amp; 1% deduction from KREST score</a:t>
            </a:r>
          </a:p>
          <a:p>
            <a:pPr marL="171450" indent="-171450">
              <a:buFont typeface="Arial"/>
              <a:buChar char="•"/>
            </a:pPr>
            <a:r>
              <a:rPr lang="en-US" sz="900" b="1" dirty="0">
                <a:solidFill>
                  <a:srgbClr val="FF0000"/>
                </a:solidFill>
                <a:latin typeface="Biome"/>
                <a:ea typeface="Arial" pitchFamily="34" charset="-122"/>
                <a:cs typeface="Biome"/>
              </a:rPr>
              <a:t>Further Reoccurrences: P5, 1% deduction from KREST score &amp; Disciplinary session with Chairman, dismissal possible</a:t>
            </a:r>
            <a:endParaRPr lang="en-US" sz="900" b="1" dirty="0">
              <a:solidFill>
                <a:srgbClr val="FF0000"/>
              </a:solidFill>
              <a:latin typeface="Biome"/>
              <a:cs typeface="Biome"/>
            </a:endParaRP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AFDB00D8-E533-E4AF-E081-CCBDFAE4FA1E}"/>
              </a:ext>
            </a:extLst>
          </p:cNvPr>
          <p:cNvSpPr/>
          <p:nvPr/>
        </p:nvSpPr>
        <p:spPr>
          <a:xfrm>
            <a:off x="5760719" y="3525440"/>
            <a:ext cx="2926080" cy="873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900" b="1" dirty="0">
                <a:latin typeface="Biome"/>
                <a:ea typeface="Arial" pitchFamily="34" charset="-122"/>
                <a:cs typeface="Biome"/>
              </a:rPr>
              <a:t>1st: P5 &amp; Disciplinary session with Chairman. Unpaid leave possible</a:t>
            </a:r>
          </a:p>
          <a:p>
            <a:pPr marL="171450" indent="-171450">
              <a:buFont typeface="Arial"/>
              <a:buChar char="•"/>
            </a:pPr>
            <a:r>
              <a:rPr lang="en-US" sz="900" b="1" dirty="0">
                <a:latin typeface="Biome"/>
                <a:ea typeface="Arial" pitchFamily="34" charset="-122"/>
                <a:cs typeface="Biome"/>
              </a:rPr>
              <a:t>2nd: P5 &amp; Disciplinary session with Chairman, Termination possible</a:t>
            </a:r>
          </a:p>
          <a:p>
            <a:pPr marL="171450" indent="-171450">
              <a:buFont typeface="Arial"/>
              <a:buChar char="•"/>
            </a:pPr>
            <a:r>
              <a:rPr lang="en-US" sz="900" b="1" dirty="0">
                <a:latin typeface="Biome"/>
                <a:cs typeface="Biome"/>
              </a:rPr>
              <a:t>Other disciplinary measures </a:t>
            </a:r>
            <a:r>
              <a:rPr lang="en-US" sz="900" b="1" dirty="0" err="1">
                <a:latin typeface="Biome"/>
                <a:cs typeface="Biome"/>
              </a:rPr>
              <a:t>utilised</a:t>
            </a:r>
            <a:r>
              <a:rPr lang="en-US" sz="900" b="1" dirty="0">
                <a:latin typeface="Biome"/>
                <a:cs typeface="Biome"/>
              </a:rPr>
              <a:t> in Tier 1 &amp; 2 are also possible in this category</a:t>
            </a:r>
          </a:p>
        </p:txBody>
      </p:sp>
    </p:spTree>
    <p:extLst>
      <p:ext uri="{BB962C8B-B14F-4D97-AF65-F5344CB8AC3E}">
        <p14:creationId xmlns:p14="http://schemas.microsoft.com/office/powerpoint/2010/main" val="314327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F594DC-92FE-A3FB-EAEC-1CEA15360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83C9B2-9A79-E445-985D-71DD85DB0CA0}"/>
              </a:ext>
            </a:extLst>
          </p:cNvPr>
          <p:cNvSpPr/>
          <p:nvPr/>
        </p:nvSpPr>
        <p:spPr>
          <a:xfrm>
            <a:off x="0" y="5060666"/>
            <a:ext cx="9171595" cy="91440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1026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946BFBFA-D4C2-75FF-316B-B9A5D4EFB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-137159"/>
            <a:ext cx="1280160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6" name="Text 1">
            <a:extLst>
              <a:ext uri="{FF2B5EF4-FFF2-40B4-BE49-F238E27FC236}">
                <a16:creationId xmlns:a16="http://schemas.microsoft.com/office/drawing/2014/main" id="{210217A6-CAB1-A749-2E3C-790694983447}"/>
              </a:ext>
            </a:extLst>
          </p:cNvPr>
          <p:cNvSpPr/>
          <p:nvPr/>
        </p:nvSpPr>
        <p:spPr>
          <a:xfrm>
            <a:off x="4924044" y="7772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0000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HOW IT WORKS — END-TO-END USER FLOW</a:t>
            </a:r>
            <a:endParaRPr lang="en-US" sz="140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287" name="Shape 2">
            <a:extLst>
              <a:ext uri="{FF2B5EF4-FFF2-40B4-BE49-F238E27FC236}">
                <a16:creationId xmlns:a16="http://schemas.microsoft.com/office/drawing/2014/main" id="{B287D6CE-0C8C-5321-56EC-0DC0A1100A6D}"/>
              </a:ext>
            </a:extLst>
          </p:cNvPr>
          <p:cNvSpPr/>
          <p:nvPr/>
        </p:nvSpPr>
        <p:spPr>
          <a:xfrm>
            <a:off x="731520" y="1188720"/>
            <a:ext cx="822960" cy="822960"/>
          </a:xfrm>
          <a:prstGeom prst="ellipse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88" name="Image 0" descr="preencoded.png">
            <a:extLst>
              <a:ext uri="{FF2B5EF4-FFF2-40B4-BE49-F238E27FC236}">
                <a16:creationId xmlns:a16="http://schemas.microsoft.com/office/drawing/2014/main" id="{1B8C1606-8188-E8D0-8EFE-B127574AE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261872"/>
            <a:ext cx="658368" cy="658368"/>
          </a:xfrm>
          <a:prstGeom prst="rect">
            <a:avLst/>
          </a:prstGeom>
        </p:spPr>
      </p:pic>
      <p:sp>
        <p:nvSpPr>
          <p:cNvPr id="1289" name="Shape 3">
            <a:extLst>
              <a:ext uri="{FF2B5EF4-FFF2-40B4-BE49-F238E27FC236}">
                <a16:creationId xmlns:a16="http://schemas.microsoft.com/office/drawing/2014/main" id="{677DB4D0-E486-115C-148A-8BA48123EDBC}"/>
              </a:ext>
            </a:extLst>
          </p:cNvPr>
          <p:cNvSpPr/>
          <p:nvPr/>
        </p:nvSpPr>
        <p:spPr>
          <a:xfrm>
            <a:off x="1298448" y="1051560"/>
            <a:ext cx="347472" cy="34747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290" name="Text 4">
            <a:extLst>
              <a:ext uri="{FF2B5EF4-FFF2-40B4-BE49-F238E27FC236}">
                <a16:creationId xmlns:a16="http://schemas.microsoft.com/office/drawing/2014/main" id="{ABE47F2C-029A-CE28-2E4A-1EB674F2E4DA}"/>
              </a:ext>
            </a:extLst>
          </p:cNvPr>
          <p:cNvSpPr/>
          <p:nvPr/>
        </p:nvSpPr>
        <p:spPr>
          <a:xfrm>
            <a:off x="1298448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1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291" name="Text 5">
            <a:extLst>
              <a:ext uri="{FF2B5EF4-FFF2-40B4-BE49-F238E27FC236}">
                <a16:creationId xmlns:a16="http://schemas.microsoft.com/office/drawing/2014/main" id="{AD2986A3-CC73-E20F-8DFF-FCC1CE465EC4}"/>
              </a:ext>
            </a:extLst>
          </p:cNvPr>
          <p:cNvSpPr/>
          <p:nvPr/>
        </p:nvSpPr>
        <p:spPr>
          <a:xfrm>
            <a:off x="502920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Incident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Logged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292" name="Shape 6">
            <a:extLst>
              <a:ext uri="{FF2B5EF4-FFF2-40B4-BE49-F238E27FC236}">
                <a16:creationId xmlns:a16="http://schemas.microsoft.com/office/drawing/2014/main" id="{1DDDEDDE-6B7F-0409-DEBC-5556F76BB4CA}"/>
              </a:ext>
            </a:extLst>
          </p:cNvPr>
          <p:cNvSpPr/>
          <p:nvPr/>
        </p:nvSpPr>
        <p:spPr>
          <a:xfrm>
            <a:off x="1691640" y="1600200"/>
            <a:ext cx="4572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293" name="Shape 7">
            <a:extLst>
              <a:ext uri="{FF2B5EF4-FFF2-40B4-BE49-F238E27FC236}">
                <a16:creationId xmlns:a16="http://schemas.microsoft.com/office/drawing/2014/main" id="{E516DE8A-A0FC-8310-590E-D796AF37AAD4}"/>
              </a:ext>
            </a:extLst>
          </p:cNvPr>
          <p:cNvSpPr/>
          <p:nvPr/>
        </p:nvSpPr>
        <p:spPr>
          <a:xfrm>
            <a:off x="2395728" y="1188720"/>
            <a:ext cx="822960" cy="822960"/>
          </a:xfrm>
          <a:prstGeom prst="ellipse">
            <a:avLst/>
          </a:prstGeom>
          <a:solidFill>
            <a:srgbClr val="1D4ED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94" name="Image 1" descr="preencoded.png">
            <a:extLst>
              <a:ext uri="{FF2B5EF4-FFF2-40B4-BE49-F238E27FC236}">
                <a16:creationId xmlns:a16="http://schemas.microsoft.com/office/drawing/2014/main" id="{5E2F0C18-2FF5-75F6-405D-DAA079164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1261872"/>
            <a:ext cx="658368" cy="658368"/>
          </a:xfrm>
          <a:prstGeom prst="rect">
            <a:avLst/>
          </a:prstGeom>
        </p:spPr>
      </p:pic>
      <p:sp>
        <p:nvSpPr>
          <p:cNvPr id="1295" name="Shape 8">
            <a:extLst>
              <a:ext uri="{FF2B5EF4-FFF2-40B4-BE49-F238E27FC236}">
                <a16:creationId xmlns:a16="http://schemas.microsoft.com/office/drawing/2014/main" id="{45B474F0-D9B0-615B-DF80-BA2EAAFBDC9D}"/>
              </a:ext>
            </a:extLst>
          </p:cNvPr>
          <p:cNvSpPr/>
          <p:nvPr/>
        </p:nvSpPr>
        <p:spPr>
          <a:xfrm>
            <a:off x="2962656" y="1051560"/>
            <a:ext cx="347472" cy="34747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296" name="Text 9">
            <a:extLst>
              <a:ext uri="{FF2B5EF4-FFF2-40B4-BE49-F238E27FC236}">
                <a16:creationId xmlns:a16="http://schemas.microsoft.com/office/drawing/2014/main" id="{D07523E7-6583-0E93-6DCC-BF157F841DA3}"/>
              </a:ext>
            </a:extLst>
          </p:cNvPr>
          <p:cNvSpPr/>
          <p:nvPr/>
        </p:nvSpPr>
        <p:spPr>
          <a:xfrm>
            <a:off x="2962656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2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297" name="Text 10">
            <a:extLst>
              <a:ext uri="{FF2B5EF4-FFF2-40B4-BE49-F238E27FC236}">
                <a16:creationId xmlns:a16="http://schemas.microsoft.com/office/drawing/2014/main" id="{524E859C-CB63-F6AD-04F5-F30B9BAFC0D4}"/>
              </a:ext>
            </a:extLst>
          </p:cNvPr>
          <p:cNvSpPr/>
          <p:nvPr/>
        </p:nvSpPr>
        <p:spPr>
          <a:xfrm>
            <a:off x="2167128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Tier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Classified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298" name="Shape 11">
            <a:extLst>
              <a:ext uri="{FF2B5EF4-FFF2-40B4-BE49-F238E27FC236}">
                <a16:creationId xmlns:a16="http://schemas.microsoft.com/office/drawing/2014/main" id="{099A2D39-E162-23E1-7C6E-2257625325FF}"/>
              </a:ext>
            </a:extLst>
          </p:cNvPr>
          <p:cNvSpPr/>
          <p:nvPr/>
        </p:nvSpPr>
        <p:spPr>
          <a:xfrm>
            <a:off x="3355848" y="1600200"/>
            <a:ext cx="4572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299" name="Shape 12">
            <a:extLst>
              <a:ext uri="{FF2B5EF4-FFF2-40B4-BE49-F238E27FC236}">
                <a16:creationId xmlns:a16="http://schemas.microsoft.com/office/drawing/2014/main" id="{12E0A9D9-B4A3-6DC4-79DC-8718A86E26CC}"/>
              </a:ext>
            </a:extLst>
          </p:cNvPr>
          <p:cNvSpPr/>
          <p:nvPr/>
        </p:nvSpPr>
        <p:spPr>
          <a:xfrm>
            <a:off x="4059936" y="1188720"/>
            <a:ext cx="822960" cy="822960"/>
          </a:xfrm>
          <a:prstGeom prst="ellipse">
            <a:avLst/>
          </a:prstGeom>
          <a:solidFill>
            <a:srgbClr val="FF00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00" name="Image 2" descr="preencoded.png">
            <a:extLst>
              <a:ext uri="{FF2B5EF4-FFF2-40B4-BE49-F238E27FC236}">
                <a16:creationId xmlns:a16="http://schemas.microsoft.com/office/drawing/2014/main" id="{D943EF46-0572-4B88-5861-20B787B14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088" y="1261872"/>
            <a:ext cx="658368" cy="658368"/>
          </a:xfrm>
          <a:prstGeom prst="rect">
            <a:avLst/>
          </a:prstGeom>
        </p:spPr>
      </p:pic>
      <p:sp>
        <p:nvSpPr>
          <p:cNvPr id="1301" name="Shape 13">
            <a:extLst>
              <a:ext uri="{FF2B5EF4-FFF2-40B4-BE49-F238E27FC236}">
                <a16:creationId xmlns:a16="http://schemas.microsoft.com/office/drawing/2014/main" id="{BB80873F-12B2-2CBE-386C-2E5F59FD942D}"/>
              </a:ext>
            </a:extLst>
          </p:cNvPr>
          <p:cNvSpPr/>
          <p:nvPr/>
        </p:nvSpPr>
        <p:spPr>
          <a:xfrm>
            <a:off x="4626864" y="1051560"/>
            <a:ext cx="347472" cy="34747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302" name="Text 14">
            <a:extLst>
              <a:ext uri="{FF2B5EF4-FFF2-40B4-BE49-F238E27FC236}">
                <a16:creationId xmlns:a16="http://schemas.microsoft.com/office/drawing/2014/main" id="{F302D822-A2E2-F128-7A9B-F4B3BCEC9E32}"/>
              </a:ext>
            </a:extLst>
          </p:cNvPr>
          <p:cNvSpPr/>
          <p:nvPr/>
        </p:nvSpPr>
        <p:spPr>
          <a:xfrm>
            <a:off x="4626864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3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03" name="Text 15">
            <a:extLst>
              <a:ext uri="{FF2B5EF4-FFF2-40B4-BE49-F238E27FC236}">
                <a16:creationId xmlns:a16="http://schemas.microsoft.com/office/drawing/2014/main" id="{EF670646-A579-9DC6-E09A-9450DD221DDF}"/>
              </a:ext>
            </a:extLst>
          </p:cNvPr>
          <p:cNvSpPr/>
          <p:nvPr/>
        </p:nvSpPr>
        <p:spPr>
          <a:xfrm>
            <a:off x="3831336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Action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Recommended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04" name="Shape 16">
            <a:extLst>
              <a:ext uri="{FF2B5EF4-FFF2-40B4-BE49-F238E27FC236}">
                <a16:creationId xmlns:a16="http://schemas.microsoft.com/office/drawing/2014/main" id="{111B44B6-2D53-B0EE-96BF-4792AB75BD3D}"/>
              </a:ext>
            </a:extLst>
          </p:cNvPr>
          <p:cNvSpPr/>
          <p:nvPr/>
        </p:nvSpPr>
        <p:spPr>
          <a:xfrm>
            <a:off x="5020056" y="1600200"/>
            <a:ext cx="4572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305" name="Shape 17">
            <a:extLst>
              <a:ext uri="{FF2B5EF4-FFF2-40B4-BE49-F238E27FC236}">
                <a16:creationId xmlns:a16="http://schemas.microsoft.com/office/drawing/2014/main" id="{B8764C95-BC52-33F8-D358-1F9BAFC191BE}"/>
              </a:ext>
            </a:extLst>
          </p:cNvPr>
          <p:cNvSpPr/>
          <p:nvPr/>
        </p:nvSpPr>
        <p:spPr>
          <a:xfrm>
            <a:off x="5724144" y="118872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06" name="Image 3" descr="preencoded.png">
            <a:extLst>
              <a:ext uri="{FF2B5EF4-FFF2-40B4-BE49-F238E27FC236}">
                <a16:creationId xmlns:a16="http://schemas.microsoft.com/office/drawing/2014/main" id="{DCC7B364-9466-5834-CB50-38F3933B60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7296" y="1261872"/>
            <a:ext cx="658368" cy="658368"/>
          </a:xfrm>
          <a:prstGeom prst="rect">
            <a:avLst/>
          </a:prstGeom>
        </p:spPr>
      </p:pic>
      <p:sp>
        <p:nvSpPr>
          <p:cNvPr id="1307" name="Shape 18">
            <a:extLst>
              <a:ext uri="{FF2B5EF4-FFF2-40B4-BE49-F238E27FC236}">
                <a16:creationId xmlns:a16="http://schemas.microsoft.com/office/drawing/2014/main" id="{73AD90CF-3F3E-E8AA-0759-AA50A1FD3202}"/>
              </a:ext>
            </a:extLst>
          </p:cNvPr>
          <p:cNvSpPr/>
          <p:nvPr/>
        </p:nvSpPr>
        <p:spPr>
          <a:xfrm>
            <a:off x="6291072" y="1051560"/>
            <a:ext cx="347472" cy="34747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308" name="Text 19">
            <a:extLst>
              <a:ext uri="{FF2B5EF4-FFF2-40B4-BE49-F238E27FC236}">
                <a16:creationId xmlns:a16="http://schemas.microsoft.com/office/drawing/2014/main" id="{D7B29007-65A3-ADD1-6E9E-ED9C8A71BA3D}"/>
              </a:ext>
            </a:extLst>
          </p:cNvPr>
          <p:cNvSpPr/>
          <p:nvPr/>
        </p:nvSpPr>
        <p:spPr>
          <a:xfrm>
            <a:off x="6291072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4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09" name="Text 20">
            <a:extLst>
              <a:ext uri="{FF2B5EF4-FFF2-40B4-BE49-F238E27FC236}">
                <a16:creationId xmlns:a16="http://schemas.microsoft.com/office/drawing/2014/main" id="{405648BB-5A16-9DE2-3A90-09EE8DD37AEA}"/>
              </a:ext>
            </a:extLst>
          </p:cNvPr>
          <p:cNvSpPr/>
          <p:nvPr/>
        </p:nvSpPr>
        <p:spPr>
          <a:xfrm>
            <a:off x="5495544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Notification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Sent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10" name="Shape 21">
            <a:extLst>
              <a:ext uri="{FF2B5EF4-FFF2-40B4-BE49-F238E27FC236}">
                <a16:creationId xmlns:a16="http://schemas.microsoft.com/office/drawing/2014/main" id="{625F76DE-3125-5E9C-165F-A83C9F26B751}"/>
              </a:ext>
            </a:extLst>
          </p:cNvPr>
          <p:cNvSpPr/>
          <p:nvPr/>
        </p:nvSpPr>
        <p:spPr>
          <a:xfrm>
            <a:off x="6684264" y="1600200"/>
            <a:ext cx="4572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311" name="Shape 22">
            <a:extLst>
              <a:ext uri="{FF2B5EF4-FFF2-40B4-BE49-F238E27FC236}">
                <a16:creationId xmlns:a16="http://schemas.microsoft.com/office/drawing/2014/main" id="{B2057570-371A-FE2C-6055-B096D782E32A}"/>
              </a:ext>
            </a:extLst>
          </p:cNvPr>
          <p:cNvSpPr/>
          <p:nvPr/>
        </p:nvSpPr>
        <p:spPr>
          <a:xfrm>
            <a:off x="7388352" y="1188720"/>
            <a:ext cx="822960" cy="822960"/>
          </a:xfrm>
          <a:prstGeom prst="ellipse">
            <a:avLst/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12" name="Image 4" descr="preencoded.png">
            <a:extLst>
              <a:ext uri="{FF2B5EF4-FFF2-40B4-BE49-F238E27FC236}">
                <a16:creationId xmlns:a16="http://schemas.microsoft.com/office/drawing/2014/main" id="{85F3631E-82E5-4B3A-7165-9F37F4545B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1504" y="1261872"/>
            <a:ext cx="658368" cy="658368"/>
          </a:xfrm>
          <a:prstGeom prst="rect">
            <a:avLst/>
          </a:prstGeom>
        </p:spPr>
      </p:pic>
      <p:sp>
        <p:nvSpPr>
          <p:cNvPr id="1313" name="Shape 23">
            <a:extLst>
              <a:ext uri="{FF2B5EF4-FFF2-40B4-BE49-F238E27FC236}">
                <a16:creationId xmlns:a16="http://schemas.microsoft.com/office/drawing/2014/main" id="{8C8999A8-53A5-F659-81D5-840DE5F8CAE7}"/>
              </a:ext>
            </a:extLst>
          </p:cNvPr>
          <p:cNvSpPr/>
          <p:nvPr/>
        </p:nvSpPr>
        <p:spPr>
          <a:xfrm>
            <a:off x="7955280" y="1051560"/>
            <a:ext cx="347472" cy="34747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314" name="Text 24">
            <a:extLst>
              <a:ext uri="{FF2B5EF4-FFF2-40B4-BE49-F238E27FC236}">
                <a16:creationId xmlns:a16="http://schemas.microsoft.com/office/drawing/2014/main" id="{8E434180-F5E4-4C2C-7775-E77E78DF8203}"/>
              </a:ext>
            </a:extLst>
          </p:cNvPr>
          <p:cNvSpPr/>
          <p:nvPr/>
        </p:nvSpPr>
        <p:spPr>
          <a:xfrm>
            <a:off x="79552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5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15" name="Text 25">
            <a:extLst>
              <a:ext uri="{FF2B5EF4-FFF2-40B4-BE49-F238E27FC236}">
                <a16:creationId xmlns:a16="http://schemas.microsoft.com/office/drawing/2014/main" id="{D230A652-2E7F-63B7-A218-0B28E17D4681}"/>
              </a:ext>
            </a:extLst>
          </p:cNvPr>
          <p:cNvSpPr/>
          <p:nvPr/>
        </p:nvSpPr>
        <p:spPr>
          <a:xfrm>
            <a:off x="7159752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Enforcement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&amp; Resolution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16" name="Shape 26">
            <a:extLst>
              <a:ext uri="{FF2B5EF4-FFF2-40B4-BE49-F238E27FC236}">
                <a16:creationId xmlns:a16="http://schemas.microsoft.com/office/drawing/2014/main" id="{381A02E6-8BC8-7189-880A-68B5560DF19F}"/>
              </a:ext>
            </a:extLst>
          </p:cNvPr>
          <p:cNvSpPr/>
          <p:nvPr/>
        </p:nvSpPr>
        <p:spPr>
          <a:xfrm>
            <a:off x="475488" y="2743200"/>
            <a:ext cx="1463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17" name="Shape 27">
            <a:extLst>
              <a:ext uri="{FF2B5EF4-FFF2-40B4-BE49-F238E27FC236}">
                <a16:creationId xmlns:a16="http://schemas.microsoft.com/office/drawing/2014/main" id="{C5548449-5489-16FF-A9B3-7B4430055810}"/>
              </a:ext>
            </a:extLst>
          </p:cNvPr>
          <p:cNvSpPr/>
          <p:nvPr/>
        </p:nvSpPr>
        <p:spPr>
          <a:xfrm>
            <a:off x="475488" y="2743200"/>
            <a:ext cx="146304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18" name="Text 28">
            <a:extLst>
              <a:ext uri="{FF2B5EF4-FFF2-40B4-BE49-F238E27FC236}">
                <a16:creationId xmlns:a16="http://schemas.microsoft.com/office/drawing/2014/main" id="{2FCCB7D7-2E29-682E-2BF1-20F4B177933E}"/>
              </a:ext>
            </a:extLst>
          </p:cNvPr>
          <p:cNvSpPr/>
          <p:nvPr/>
        </p:nvSpPr>
        <p:spPr>
          <a:xfrm>
            <a:off x="521208" y="2834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>
                <a:solidFill>
                  <a:srgbClr val="374151"/>
                </a:solidFill>
                <a:latin typeface="Biome"/>
                <a:cs typeface="Biome"/>
              </a:rPr>
              <a:t>Admin Officer</a:t>
            </a:r>
            <a:endParaRPr lang="en-US" sz="950" dirty="0">
              <a:latin typeface="Biome"/>
              <a:cs typeface="Biome"/>
            </a:endParaRPr>
          </a:p>
          <a:p>
            <a:pPr marL="0" indent="0" algn="ctr">
              <a:buNone/>
            </a:pPr>
            <a:r>
              <a:rPr lang="en-US" sz="950">
                <a:solidFill>
                  <a:srgbClr val="37415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logs breach via form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19" name="Shape 29">
            <a:extLst>
              <a:ext uri="{FF2B5EF4-FFF2-40B4-BE49-F238E27FC236}">
                <a16:creationId xmlns:a16="http://schemas.microsoft.com/office/drawing/2014/main" id="{2D7C60EB-EFB5-12B0-69BC-66F1DA911BCF}"/>
              </a:ext>
            </a:extLst>
          </p:cNvPr>
          <p:cNvSpPr/>
          <p:nvPr/>
        </p:nvSpPr>
        <p:spPr>
          <a:xfrm>
            <a:off x="2139696" y="2743200"/>
            <a:ext cx="1463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20" name="Shape 30">
            <a:extLst>
              <a:ext uri="{FF2B5EF4-FFF2-40B4-BE49-F238E27FC236}">
                <a16:creationId xmlns:a16="http://schemas.microsoft.com/office/drawing/2014/main" id="{AD67B7A7-59D7-DC8B-25C6-73ECF6A7D5F2}"/>
              </a:ext>
            </a:extLst>
          </p:cNvPr>
          <p:cNvSpPr/>
          <p:nvPr/>
        </p:nvSpPr>
        <p:spPr>
          <a:xfrm>
            <a:off x="2139696" y="2743200"/>
            <a:ext cx="14630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21" name="Text 31">
            <a:extLst>
              <a:ext uri="{FF2B5EF4-FFF2-40B4-BE49-F238E27FC236}">
                <a16:creationId xmlns:a16="http://schemas.microsoft.com/office/drawing/2014/main" id="{0FD3BEF1-E8A5-875F-C0AD-51B02FFC47FF}"/>
              </a:ext>
            </a:extLst>
          </p:cNvPr>
          <p:cNvSpPr/>
          <p:nvPr/>
        </p:nvSpPr>
        <p:spPr>
          <a:xfrm>
            <a:off x="2185416" y="2834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7415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System maps to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950">
                <a:solidFill>
                  <a:srgbClr val="37415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Tier 1, 2, or 3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22" name="Shape 32">
            <a:extLst>
              <a:ext uri="{FF2B5EF4-FFF2-40B4-BE49-F238E27FC236}">
                <a16:creationId xmlns:a16="http://schemas.microsoft.com/office/drawing/2014/main" id="{85F9233A-E370-73D3-EABA-CFD2D972F653}"/>
              </a:ext>
            </a:extLst>
          </p:cNvPr>
          <p:cNvSpPr/>
          <p:nvPr/>
        </p:nvSpPr>
        <p:spPr>
          <a:xfrm>
            <a:off x="3803904" y="2743200"/>
            <a:ext cx="1463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23" name="Shape 33">
            <a:extLst>
              <a:ext uri="{FF2B5EF4-FFF2-40B4-BE49-F238E27FC236}">
                <a16:creationId xmlns:a16="http://schemas.microsoft.com/office/drawing/2014/main" id="{220E1683-78EA-BDBB-1BC9-BD348C7128E0}"/>
              </a:ext>
            </a:extLst>
          </p:cNvPr>
          <p:cNvSpPr/>
          <p:nvPr/>
        </p:nvSpPr>
        <p:spPr>
          <a:xfrm>
            <a:off x="3803904" y="2743200"/>
            <a:ext cx="146304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324" name="Text 34">
            <a:extLst>
              <a:ext uri="{FF2B5EF4-FFF2-40B4-BE49-F238E27FC236}">
                <a16:creationId xmlns:a16="http://schemas.microsoft.com/office/drawing/2014/main" id="{E80EC1B6-7FA3-8C41-BF5A-C0CD7207F222}"/>
              </a:ext>
            </a:extLst>
          </p:cNvPr>
          <p:cNvSpPr/>
          <p:nvPr/>
        </p:nvSpPr>
        <p:spPr>
          <a:xfrm>
            <a:off x="3849624" y="2834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7415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1st / 2nd / 3rd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950">
                <a:solidFill>
                  <a:srgbClr val="37415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action auto-applied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25" name="Shape 35">
            <a:extLst>
              <a:ext uri="{FF2B5EF4-FFF2-40B4-BE49-F238E27FC236}">
                <a16:creationId xmlns:a16="http://schemas.microsoft.com/office/drawing/2014/main" id="{B9C4C09F-8D8D-475C-A90E-48C8B88F33B3}"/>
              </a:ext>
            </a:extLst>
          </p:cNvPr>
          <p:cNvSpPr/>
          <p:nvPr/>
        </p:nvSpPr>
        <p:spPr>
          <a:xfrm>
            <a:off x="5468112" y="2743200"/>
            <a:ext cx="1463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26" name="Shape 36">
            <a:extLst>
              <a:ext uri="{FF2B5EF4-FFF2-40B4-BE49-F238E27FC236}">
                <a16:creationId xmlns:a16="http://schemas.microsoft.com/office/drawing/2014/main" id="{AFD4CDED-0304-ECC7-13A0-1125F194D45E}"/>
              </a:ext>
            </a:extLst>
          </p:cNvPr>
          <p:cNvSpPr/>
          <p:nvPr/>
        </p:nvSpPr>
        <p:spPr>
          <a:xfrm>
            <a:off x="5468112" y="2743200"/>
            <a:ext cx="1463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27" name="Text 37">
            <a:extLst>
              <a:ext uri="{FF2B5EF4-FFF2-40B4-BE49-F238E27FC236}">
                <a16:creationId xmlns:a16="http://schemas.microsoft.com/office/drawing/2014/main" id="{B28E6416-6F6C-FD5F-0EBC-671323525F6F}"/>
              </a:ext>
            </a:extLst>
          </p:cNvPr>
          <p:cNvSpPr/>
          <p:nvPr/>
        </p:nvSpPr>
        <p:spPr>
          <a:xfrm>
            <a:off x="5513832" y="2834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7415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Person + supervisor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950">
                <a:solidFill>
                  <a:srgbClr val="37415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notified via email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28" name="Shape 38">
            <a:extLst>
              <a:ext uri="{FF2B5EF4-FFF2-40B4-BE49-F238E27FC236}">
                <a16:creationId xmlns:a16="http://schemas.microsoft.com/office/drawing/2014/main" id="{BD345777-D2E3-4809-9A4B-430A0E04D02A}"/>
              </a:ext>
            </a:extLst>
          </p:cNvPr>
          <p:cNvSpPr/>
          <p:nvPr/>
        </p:nvSpPr>
        <p:spPr>
          <a:xfrm>
            <a:off x="7132320" y="2743200"/>
            <a:ext cx="1463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29" name="Shape 39">
            <a:extLst>
              <a:ext uri="{FF2B5EF4-FFF2-40B4-BE49-F238E27FC236}">
                <a16:creationId xmlns:a16="http://schemas.microsoft.com/office/drawing/2014/main" id="{A93233C3-22DB-C92D-A647-3F20DDC07838}"/>
              </a:ext>
            </a:extLst>
          </p:cNvPr>
          <p:cNvSpPr/>
          <p:nvPr/>
        </p:nvSpPr>
        <p:spPr>
          <a:xfrm>
            <a:off x="7132320" y="2743200"/>
            <a:ext cx="146304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30" name="Text 40">
            <a:extLst>
              <a:ext uri="{FF2B5EF4-FFF2-40B4-BE49-F238E27FC236}">
                <a16:creationId xmlns:a16="http://schemas.microsoft.com/office/drawing/2014/main" id="{8AAB4FD2-CB93-752D-8653-D7250A9A7E99}"/>
              </a:ext>
            </a:extLst>
          </p:cNvPr>
          <p:cNvSpPr/>
          <p:nvPr/>
        </p:nvSpPr>
        <p:spPr>
          <a:xfrm>
            <a:off x="7178040" y="2834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37415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Case closed or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950">
                <a:solidFill>
                  <a:srgbClr val="37415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escalated if needed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31" name="Shape 41">
            <a:extLst>
              <a:ext uri="{FF2B5EF4-FFF2-40B4-BE49-F238E27FC236}">
                <a16:creationId xmlns:a16="http://schemas.microsoft.com/office/drawing/2014/main" id="{5DE4C727-DA92-4C2C-2F74-B53281271F44}"/>
              </a:ext>
            </a:extLst>
          </p:cNvPr>
          <p:cNvSpPr/>
          <p:nvPr/>
        </p:nvSpPr>
        <p:spPr>
          <a:xfrm>
            <a:off x="274320" y="374904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32" name="Shape 42">
            <a:extLst>
              <a:ext uri="{FF2B5EF4-FFF2-40B4-BE49-F238E27FC236}">
                <a16:creationId xmlns:a16="http://schemas.microsoft.com/office/drawing/2014/main" id="{A4263743-1799-051F-CFCA-6937F141845E}"/>
              </a:ext>
            </a:extLst>
          </p:cNvPr>
          <p:cNvSpPr/>
          <p:nvPr/>
        </p:nvSpPr>
        <p:spPr>
          <a:xfrm>
            <a:off x="274320" y="3749040"/>
            <a:ext cx="73152" cy="5943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333" name="Text 43">
            <a:extLst>
              <a:ext uri="{FF2B5EF4-FFF2-40B4-BE49-F238E27FC236}">
                <a16:creationId xmlns:a16="http://schemas.microsoft.com/office/drawing/2014/main" id="{84CFC31A-3D06-E3C3-5B6A-0667D7777306}"/>
              </a:ext>
            </a:extLst>
          </p:cNvPr>
          <p:cNvSpPr/>
          <p:nvPr/>
        </p:nvSpPr>
        <p:spPr>
          <a:xfrm>
            <a:off x="475488" y="38221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A020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APPEALS PATHWAY (Phase 2):</a:t>
            </a:r>
            <a:endParaRPr lang="en-US" sz="10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34" name="Text 44">
            <a:extLst>
              <a:ext uri="{FF2B5EF4-FFF2-40B4-BE49-F238E27FC236}">
                <a16:creationId xmlns:a16="http://schemas.microsoft.com/office/drawing/2014/main" id="{86F163C4-3E27-A09B-66F8-835A69FA7FD7}"/>
              </a:ext>
            </a:extLst>
          </p:cNvPr>
          <p:cNvSpPr/>
          <p:nvPr/>
        </p:nvSpPr>
        <p:spPr>
          <a:xfrm>
            <a:off x="475488" y="40416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If charged person disputes the action → submits appeal within 3–5 working days → routed to reviewing officer → decision documented (Upheld / Reduced / Waived)</a:t>
            </a:r>
            <a:endParaRPr lang="en-US" sz="10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077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0" y="125731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0000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SYSTEM ARCHITECTURE — 7 CONNECTED MODULES</a:t>
            </a:r>
            <a:endParaRPr lang="en-US" sz="140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175002" y="2067836"/>
            <a:ext cx="2743200" cy="86868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175002" y="199716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PACT COMPLIANCE CASES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149607" y="250015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A0B4D0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Central Hub</a:t>
            </a:r>
            <a:endParaRPr lang="en-US" sz="9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468880" cy="777240"/>
          </a:xfrm>
          <a:prstGeom prst="rect">
            <a:avLst/>
          </a:prstGeom>
          <a:solidFill>
            <a:srgbClr val="1D4ED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914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Staff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Directory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26480" y="914400"/>
            <a:ext cx="2468880" cy="777240"/>
          </a:xfrm>
          <a:prstGeom prst="rect">
            <a:avLst/>
          </a:prstGeom>
          <a:solidFill>
            <a:srgbClr val="1D4ED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914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Policy &amp;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Offence Library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3312795"/>
            <a:ext cx="2468880" cy="777240"/>
          </a:xfrm>
          <a:prstGeom prst="rect">
            <a:avLst/>
          </a:prstGeom>
          <a:solidFill>
            <a:srgbClr val="FF00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8445" y="3312795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Disciplinary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Actions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79128" y="4033796"/>
            <a:ext cx="2468880" cy="7772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403379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Escalation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Log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26480" y="3316224"/>
            <a:ext cx="2468880" cy="777240"/>
          </a:xfrm>
          <a:prstGeom prst="rect">
            <a:avLst/>
          </a:prstGeom>
          <a:solidFill>
            <a:srgbClr val="E8A0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32948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Appeals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Register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79128" y="831872"/>
            <a:ext cx="2468880" cy="77724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79128" y="84189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Repeat Offence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Tracker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813560" y="1703451"/>
            <a:ext cx="1361442" cy="355473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 flipV="1">
            <a:off x="5892806" y="1691640"/>
            <a:ext cx="993135" cy="38805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1912635" y="2852926"/>
            <a:ext cx="1262367" cy="441962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5892807" y="2919222"/>
            <a:ext cx="1262367" cy="418337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4572000" y="2956560"/>
            <a:ext cx="0" cy="1095374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4572000" y="1984248"/>
            <a:ext cx="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ot"/>
          </a:ln>
        </p:spPr>
      </p:sp>
      <p:pic>
        <p:nvPicPr>
          <p:cNvPr id="25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1D7C096A-BCB5-342C-4822-FCC00ACE1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-137159"/>
            <a:ext cx="1280160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Shape 21">
            <a:extLst>
              <a:ext uri="{FF2B5EF4-FFF2-40B4-BE49-F238E27FC236}">
                <a16:creationId xmlns:a16="http://schemas.microsoft.com/office/drawing/2014/main" id="{E61D8910-4059-7B7E-2DA2-849D3C166508}"/>
              </a:ext>
            </a:extLst>
          </p:cNvPr>
          <p:cNvSpPr/>
          <p:nvPr/>
        </p:nvSpPr>
        <p:spPr>
          <a:xfrm>
            <a:off x="4572000" y="1619134"/>
            <a:ext cx="0" cy="460556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1D724-14A8-28C0-98F0-9B7CD3CE5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5429F697-920F-8001-A116-F53F89416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-137159"/>
            <a:ext cx="1280160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6D1F21DC-4220-548E-993A-22CF5085E63E}"/>
              </a:ext>
            </a:extLst>
          </p:cNvPr>
          <p:cNvSpPr txBox="1"/>
          <p:nvPr/>
        </p:nvSpPr>
        <p:spPr>
          <a:xfrm>
            <a:off x="4587240" y="252741"/>
            <a:ext cx="4587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FF0000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KCC COMPLIANCE GOVERNANCE PLATFORM — END-TO-END USER FLOW</a:t>
            </a:r>
            <a:endParaRPr lang="en-US" sz="140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grpSp>
        <p:nvGrpSpPr>
          <p:cNvPr id="1216" name="Group 1215">
            <a:extLst>
              <a:ext uri="{FF2B5EF4-FFF2-40B4-BE49-F238E27FC236}">
                <a16:creationId xmlns:a16="http://schemas.microsoft.com/office/drawing/2014/main" id="{C44CDA80-5D99-FC2D-9F36-84D1B8413AE1}"/>
              </a:ext>
            </a:extLst>
          </p:cNvPr>
          <p:cNvGrpSpPr/>
          <p:nvPr/>
        </p:nvGrpSpPr>
        <p:grpSpPr>
          <a:xfrm>
            <a:off x="1" y="1014274"/>
            <a:ext cx="9144000" cy="4132861"/>
            <a:chOff x="1" y="1079405"/>
            <a:chExt cx="9144000" cy="4132861"/>
          </a:xfrm>
        </p:grpSpPr>
        <p:sp>
          <p:nvSpPr>
            <p:cNvPr id="1208" name="Shape 3">
              <a:extLst>
                <a:ext uri="{FF2B5EF4-FFF2-40B4-BE49-F238E27FC236}">
                  <a16:creationId xmlns:a16="http://schemas.microsoft.com/office/drawing/2014/main" id="{446E6F6E-309B-E648-6A9E-DE195132FA33}"/>
                </a:ext>
              </a:extLst>
            </p:cNvPr>
            <p:cNvSpPr/>
            <p:nvPr/>
          </p:nvSpPr>
          <p:spPr>
            <a:xfrm>
              <a:off x="338225" y="1088136"/>
              <a:ext cx="1576743" cy="3881090"/>
            </a:xfrm>
            <a:prstGeom prst="rect">
              <a:avLst/>
            </a:prstGeom>
            <a:solidFill>
              <a:srgbClr val="F2F2F2"/>
            </a:solidFill>
            <a:ln w="12700">
              <a:solidFill>
                <a:srgbClr val="E8E8E8"/>
              </a:solidFill>
              <a:prstDash val="solid"/>
            </a:ln>
            <a:effectLst/>
          </p:spPr>
          <p:txBody>
            <a:bodyPr/>
            <a:lstStyle/>
            <a:p>
              <a:endParaRPr lang="en-US"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104CBD23-7608-5F6E-D8C2-3A0CEED836F2}"/>
                </a:ext>
              </a:extLst>
            </p:cNvPr>
            <p:cNvSpPr/>
            <p:nvPr/>
          </p:nvSpPr>
          <p:spPr>
            <a:xfrm>
              <a:off x="1" y="5120826"/>
              <a:ext cx="9144000" cy="91440"/>
            </a:xfrm>
            <a:prstGeom prst="rect">
              <a:avLst/>
            </a:prstGeom>
            <a:solidFill>
              <a:srgbClr val="FF0000"/>
            </a:solidFill>
            <a:ln/>
          </p:spPr>
        </p:sp>
        <p:sp>
          <p:nvSpPr>
            <p:cNvPr id="1058" name="Shape 3">
              <a:extLst>
                <a:ext uri="{FF2B5EF4-FFF2-40B4-BE49-F238E27FC236}">
                  <a16:creationId xmlns:a16="http://schemas.microsoft.com/office/drawing/2014/main" id="{54FCC3C1-D888-4536-9451-5C9E66A7DC42}"/>
                </a:ext>
              </a:extLst>
            </p:cNvPr>
            <p:cNvSpPr/>
            <p:nvPr/>
          </p:nvSpPr>
          <p:spPr>
            <a:xfrm>
              <a:off x="2003331" y="1088136"/>
              <a:ext cx="1576743" cy="3881090"/>
            </a:xfrm>
            <a:prstGeom prst="rect">
              <a:avLst/>
            </a:prstGeom>
            <a:solidFill>
              <a:srgbClr val="F2F2F2"/>
            </a:solidFill>
            <a:ln w="12700">
              <a:solidFill>
                <a:srgbClr val="E8E8E8"/>
              </a:solidFill>
              <a:prstDash val="solid"/>
            </a:ln>
            <a:effectLst/>
          </p:spPr>
          <p:txBody>
            <a:bodyPr/>
            <a:lstStyle/>
            <a:p>
              <a:endParaRPr lang="en-US"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  <p:sp>
          <p:nvSpPr>
            <p:cNvPr id="1061" name="Shape 3">
              <a:extLst>
                <a:ext uri="{FF2B5EF4-FFF2-40B4-BE49-F238E27FC236}">
                  <a16:creationId xmlns:a16="http://schemas.microsoft.com/office/drawing/2014/main" id="{8B8EAE61-C396-81DE-FD90-33EC59E6C783}"/>
                </a:ext>
              </a:extLst>
            </p:cNvPr>
            <p:cNvSpPr/>
            <p:nvPr/>
          </p:nvSpPr>
          <p:spPr>
            <a:xfrm>
              <a:off x="3708885" y="1088136"/>
              <a:ext cx="1576743" cy="3881090"/>
            </a:xfrm>
            <a:prstGeom prst="rect">
              <a:avLst/>
            </a:prstGeom>
            <a:solidFill>
              <a:srgbClr val="F2F2F2"/>
            </a:solidFill>
            <a:ln w="12700">
              <a:solidFill>
                <a:srgbClr val="E8E8E8"/>
              </a:solidFill>
              <a:prstDash val="solid"/>
            </a:ln>
            <a:effectLst/>
          </p:spPr>
          <p:txBody>
            <a:bodyPr/>
            <a:lstStyle/>
            <a:p>
              <a:endParaRPr lang="en-US"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  <p:sp>
          <p:nvSpPr>
            <p:cNvPr id="1063" name="Shape 3">
              <a:extLst>
                <a:ext uri="{FF2B5EF4-FFF2-40B4-BE49-F238E27FC236}">
                  <a16:creationId xmlns:a16="http://schemas.microsoft.com/office/drawing/2014/main" id="{0247D186-5CDF-862A-BC1F-32A221C992F8}"/>
                </a:ext>
              </a:extLst>
            </p:cNvPr>
            <p:cNvSpPr/>
            <p:nvPr/>
          </p:nvSpPr>
          <p:spPr>
            <a:xfrm>
              <a:off x="7140669" y="1088136"/>
              <a:ext cx="1576743" cy="3881090"/>
            </a:xfrm>
            <a:prstGeom prst="rect">
              <a:avLst/>
            </a:prstGeom>
            <a:solidFill>
              <a:srgbClr val="F2F2F2"/>
            </a:solidFill>
            <a:ln w="12700">
              <a:solidFill>
                <a:srgbClr val="E8E8E8"/>
              </a:solidFill>
              <a:prstDash val="solid"/>
            </a:ln>
            <a:effectLst/>
          </p:spPr>
          <p:txBody>
            <a:bodyPr/>
            <a:lstStyle/>
            <a:p>
              <a:endParaRPr lang="en-US"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  <p:grpSp>
          <p:nvGrpSpPr>
            <p:cNvPr id="1089" name="Group 1088">
              <a:extLst>
                <a:ext uri="{FF2B5EF4-FFF2-40B4-BE49-F238E27FC236}">
                  <a16:creationId xmlns:a16="http://schemas.microsoft.com/office/drawing/2014/main" id="{DB269372-7C87-43DB-541E-E2EFE7D1E5B9}"/>
                </a:ext>
              </a:extLst>
            </p:cNvPr>
            <p:cNvGrpSpPr/>
            <p:nvPr/>
          </p:nvGrpSpPr>
          <p:grpSpPr>
            <a:xfrm>
              <a:off x="7119993" y="1088136"/>
              <a:ext cx="1597419" cy="3791712"/>
              <a:chOff x="7119993" y="1088136"/>
              <a:chExt cx="1597419" cy="3791712"/>
            </a:xfrm>
            <a:effectLst/>
          </p:grpSpPr>
          <p:sp>
            <p:nvSpPr>
              <p:cNvPr id="1068" name="Shape 108">
                <a:extLst>
                  <a:ext uri="{FF2B5EF4-FFF2-40B4-BE49-F238E27FC236}">
                    <a16:creationId xmlns:a16="http://schemas.microsoft.com/office/drawing/2014/main" id="{720754A6-FABC-214A-33C8-95EBBC88B121}"/>
                  </a:ext>
                </a:extLst>
              </p:cNvPr>
              <p:cNvSpPr/>
              <p:nvPr/>
            </p:nvSpPr>
            <p:spPr>
              <a:xfrm>
                <a:off x="7119993" y="2468880"/>
                <a:ext cx="52166" cy="361950"/>
              </a:xfrm>
              <a:prstGeom prst="rect">
                <a:avLst/>
              </a:prstGeom>
              <a:solidFill>
                <a:srgbClr val="1B3A6B"/>
              </a:solidFill>
              <a:ln/>
            </p:spPr>
          </p:sp>
          <p:sp>
            <p:nvSpPr>
              <p:cNvPr id="1069" name="Text 109">
                <a:extLst>
                  <a:ext uri="{FF2B5EF4-FFF2-40B4-BE49-F238E27FC236}">
                    <a16:creationId xmlns:a16="http://schemas.microsoft.com/office/drawing/2014/main" id="{8E648F31-C872-8FF2-FEEF-6DDD66C3C993}"/>
                  </a:ext>
                </a:extLst>
              </p:cNvPr>
              <p:cNvSpPr/>
              <p:nvPr/>
            </p:nvSpPr>
            <p:spPr>
              <a:xfrm>
                <a:off x="7202589" y="2433955"/>
                <a:ext cx="1484392" cy="431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 i="1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Actor: Chairman &amp; Executive Management</a:t>
                </a:r>
                <a:endParaRPr lang="en-US" sz="700">
                  <a:latin typeface="Biome" panose="020B0503030204020804" pitchFamily="34" charset="0"/>
                  <a:cs typeface="Biome" panose="020B0503030204020804" pitchFamily="34" charset="0"/>
                </a:endParaRPr>
              </a:p>
            </p:txBody>
          </p:sp>
          <p:sp>
            <p:nvSpPr>
              <p:cNvPr id="1064" name="Shape 102">
                <a:extLst>
                  <a:ext uri="{FF2B5EF4-FFF2-40B4-BE49-F238E27FC236}">
                    <a16:creationId xmlns:a16="http://schemas.microsoft.com/office/drawing/2014/main" id="{0668DC24-9A26-85B3-270D-1348F0E2AEC2}"/>
                  </a:ext>
                </a:extLst>
              </p:cNvPr>
              <p:cNvSpPr/>
              <p:nvPr/>
            </p:nvSpPr>
            <p:spPr>
              <a:xfrm>
                <a:off x="7119993" y="1088136"/>
                <a:ext cx="1597419" cy="1380744"/>
              </a:xfrm>
              <a:prstGeom prst="rect">
                <a:avLst/>
              </a:prstGeom>
              <a:solidFill>
                <a:srgbClr val="1B3A6B"/>
              </a:solidFill>
              <a:ln/>
            </p:spPr>
          </p:sp>
          <p:sp>
            <p:nvSpPr>
              <p:cNvPr id="1067" name="Text 106">
                <a:extLst>
                  <a:ext uri="{FF2B5EF4-FFF2-40B4-BE49-F238E27FC236}">
                    <a16:creationId xmlns:a16="http://schemas.microsoft.com/office/drawing/2014/main" id="{C99323B6-06F7-0B90-1A72-6F69583898AC}"/>
                  </a:ext>
                </a:extLst>
              </p:cNvPr>
              <p:cNvSpPr/>
              <p:nvPr/>
            </p:nvSpPr>
            <p:spPr>
              <a:xfrm>
                <a:off x="7186844" y="1437366"/>
                <a:ext cx="1484392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>
                    <a:solidFill>
                      <a:srgbClr val="FFFFFF"/>
                    </a:solidFill>
                    <a:latin typeface="Biome" panose="020B0503030204020804" pitchFamily="34" charset="0"/>
                    <a:ea typeface="Arial Black" pitchFamily="34" charset="-122"/>
                    <a:cs typeface="Biome" panose="020B0503030204020804" pitchFamily="34" charset="0"/>
                  </a:rPr>
                  <a:t>EXECUTIVE</a:t>
                </a:r>
                <a:endParaRPr lang="en-US" sz="1000">
                  <a:latin typeface="Biome" panose="020B0503030204020804" pitchFamily="34" charset="0"/>
                  <a:cs typeface="Biome" panose="020B0503030204020804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1000" b="1">
                    <a:solidFill>
                      <a:srgbClr val="FFFFFF"/>
                    </a:solidFill>
                    <a:latin typeface="Biome" panose="020B0503030204020804" pitchFamily="34" charset="0"/>
                    <a:ea typeface="Arial Black" pitchFamily="34" charset="-122"/>
                    <a:cs typeface="Biome" panose="020B0503030204020804" pitchFamily="34" charset="0"/>
                  </a:rPr>
                  <a:t>INTELLIGENCE</a:t>
                </a:r>
                <a:endParaRPr lang="en-US" sz="1000">
                  <a:latin typeface="Biome" panose="020B0503030204020804" pitchFamily="34" charset="0"/>
                  <a:cs typeface="Biome" panose="020B0503030204020804" pitchFamily="34" charset="0"/>
                </a:endParaRPr>
              </a:p>
            </p:txBody>
          </p:sp>
          <p:sp>
            <p:nvSpPr>
              <p:cNvPr id="1070" name="Shape 128">
                <a:extLst>
                  <a:ext uri="{FF2B5EF4-FFF2-40B4-BE49-F238E27FC236}">
                    <a16:creationId xmlns:a16="http://schemas.microsoft.com/office/drawing/2014/main" id="{EFD659E1-FF82-70A7-EE8B-D8627DC8C37D}"/>
                  </a:ext>
                </a:extLst>
              </p:cNvPr>
              <p:cNvSpPr/>
              <p:nvPr/>
            </p:nvSpPr>
            <p:spPr>
              <a:xfrm rot="2700000">
                <a:off x="7155785" y="1708954"/>
                <a:ext cx="91440" cy="139110"/>
              </a:xfrm>
              <a:prstGeom prst="rect">
                <a:avLst/>
              </a:prstGeom>
              <a:solidFill>
                <a:srgbClr val="FFFFFF"/>
              </a:solidFill>
              <a:ln/>
            </p:spPr>
          </p:sp>
          <p:grpSp>
            <p:nvGrpSpPr>
              <p:cNvPr id="1072" name="Group 1071">
                <a:extLst>
                  <a:ext uri="{FF2B5EF4-FFF2-40B4-BE49-F238E27FC236}">
                    <a16:creationId xmlns:a16="http://schemas.microsoft.com/office/drawing/2014/main" id="{61ADB382-D4AB-F6D4-DD0B-198FC13B50EA}"/>
                  </a:ext>
                </a:extLst>
              </p:cNvPr>
              <p:cNvGrpSpPr/>
              <p:nvPr/>
            </p:nvGrpSpPr>
            <p:grpSpPr>
              <a:xfrm>
                <a:off x="7210144" y="1121028"/>
                <a:ext cx="237744" cy="268414"/>
                <a:chOff x="7210144" y="1184937"/>
                <a:chExt cx="237744" cy="268414"/>
              </a:xfrm>
            </p:grpSpPr>
            <p:sp>
              <p:nvSpPr>
                <p:cNvPr id="1071" name="Shape 103">
                  <a:extLst>
                    <a:ext uri="{FF2B5EF4-FFF2-40B4-BE49-F238E27FC236}">
                      <a16:creationId xmlns:a16="http://schemas.microsoft.com/office/drawing/2014/main" id="{DAF81DC8-EB42-6887-69EE-BA319FBC01EB}"/>
                    </a:ext>
                  </a:extLst>
                </p:cNvPr>
                <p:cNvSpPr/>
                <p:nvPr/>
              </p:nvSpPr>
              <p:spPr>
                <a:xfrm>
                  <a:off x="7210144" y="1203694"/>
                  <a:ext cx="237744" cy="230901"/>
                </a:xfrm>
                <a:prstGeom prst="ellipse">
                  <a:avLst/>
                </a:prstGeom>
                <a:solidFill>
                  <a:srgbClr val="FFFFFF"/>
                </a:solidFill>
                <a:ln/>
              </p:spPr>
            </p:sp>
            <p:sp>
              <p:nvSpPr>
                <p:cNvPr id="1065" name="Text 104">
                  <a:extLst>
                    <a:ext uri="{FF2B5EF4-FFF2-40B4-BE49-F238E27FC236}">
                      <a16:creationId xmlns:a16="http://schemas.microsoft.com/office/drawing/2014/main" id="{D69BB5A9-99F2-7313-20EA-293B4DC8578B}"/>
                    </a:ext>
                  </a:extLst>
                </p:cNvPr>
                <p:cNvSpPr/>
                <p:nvPr/>
              </p:nvSpPr>
              <p:spPr>
                <a:xfrm>
                  <a:off x="7216986" y="1184937"/>
                  <a:ext cx="230902" cy="26841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>
                      <a:solidFill>
                        <a:srgbClr val="1B3A6B"/>
                      </a:solidFill>
                      <a:latin typeface="Biome" panose="020B0503030204020804" pitchFamily="34" charset="0"/>
                      <a:ea typeface="Arial Black" pitchFamily="34" charset="-122"/>
                      <a:cs typeface="Biome" panose="020B0503030204020804" pitchFamily="34" charset="0"/>
                    </a:rPr>
                    <a:t>05</a:t>
                  </a:r>
                  <a:endParaRPr lang="en-US" sz="1100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</p:txBody>
            </p:sp>
          </p:grpSp>
          <p:grpSp>
            <p:nvGrpSpPr>
              <p:cNvPr id="1075" name="Group 1074">
                <a:extLst>
                  <a:ext uri="{FF2B5EF4-FFF2-40B4-BE49-F238E27FC236}">
                    <a16:creationId xmlns:a16="http://schemas.microsoft.com/office/drawing/2014/main" id="{F9A3E0DF-F241-D1B3-F7DE-FA7DA8A4FBA8}"/>
                  </a:ext>
                </a:extLst>
              </p:cNvPr>
              <p:cNvGrpSpPr/>
              <p:nvPr/>
            </p:nvGrpSpPr>
            <p:grpSpPr>
              <a:xfrm>
                <a:off x="7210144" y="2950752"/>
                <a:ext cx="1454250" cy="528828"/>
                <a:chOff x="9683496" y="3118104"/>
                <a:chExt cx="2029968" cy="1057656"/>
              </a:xfrm>
            </p:grpSpPr>
            <p:sp>
              <p:nvSpPr>
                <p:cNvPr id="1073" name="Shape 110">
                  <a:extLst>
                    <a:ext uri="{FF2B5EF4-FFF2-40B4-BE49-F238E27FC236}">
                      <a16:creationId xmlns:a16="http://schemas.microsoft.com/office/drawing/2014/main" id="{34B16E67-746C-828A-225A-D735A3316281}"/>
                    </a:ext>
                  </a:extLst>
                </p:cNvPr>
                <p:cNvSpPr/>
                <p:nvPr/>
              </p:nvSpPr>
              <p:spPr>
                <a:xfrm>
                  <a:off x="9683496" y="3118104"/>
                  <a:ext cx="2029968" cy="1057656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5DB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8000"/>
                    </a:srgbClr>
                  </a:outerShdw>
                </a:effectLst>
              </p:spPr>
            </p:sp>
            <p:sp>
              <p:nvSpPr>
                <p:cNvPr id="1074" name="Shape 111">
                  <a:extLst>
                    <a:ext uri="{FF2B5EF4-FFF2-40B4-BE49-F238E27FC236}">
                      <a16:creationId xmlns:a16="http://schemas.microsoft.com/office/drawing/2014/main" id="{3E5D64B1-5179-4F8E-3C11-486788A1CCA3}"/>
                    </a:ext>
                  </a:extLst>
                </p:cNvPr>
                <p:cNvSpPr/>
                <p:nvPr/>
              </p:nvSpPr>
              <p:spPr>
                <a:xfrm>
                  <a:off x="9683496" y="3118104"/>
                  <a:ext cx="54864" cy="1057656"/>
                </a:xfrm>
                <a:prstGeom prst="rect">
                  <a:avLst/>
                </a:prstGeom>
                <a:solidFill>
                  <a:srgbClr val="1B3A6B"/>
                </a:solidFill>
                <a:ln/>
              </p:spPr>
            </p:sp>
          </p:grpSp>
          <p:grpSp>
            <p:nvGrpSpPr>
              <p:cNvPr id="1076" name="Group 1075">
                <a:extLst>
                  <a:ext uri="{FF2B5EF4-FFF2-40B4-BE49-F238E27FC236}">
                    <a16:creationId xmlns:a16="http://schemas.microsoft.com/office/drawing/2014/main" id="{6DC747B5-4337-52EF-5AB7-C39D4930B46D}"/>
                  </a:ext>
                </a:extLst>
              </p:cNvPr>
              <p:cNvGrpSpPr/>
              <p:nvPr/>
            </p:nvGrpSpPr>
            <p:grpSpPr>
              <a:xfrm>
                <a:off x="7210144" y="3638369"/>
                <a:ext cx="1454250" cy="528828"/>
                <a:chOff x="9683496" y="3118104"/>
                <a:chExt cx="2029968" cy="1057656"/>
              </a:xfrm>
            </p:grpSpPr>
            <p:sp>
              <p:nvSpPr>
                <p:cNvPr id="1077" name="Shape 110">
                  <a:extLst>
                    <a:ext uri="{FF2B5EF4-FFF2-40B4-BE49-F238E27FC236}">
                      <a16:creationId xmlns:a16="http://schemas.microsoft.com/office/drawing/2014/main" id="{13CBE4EB-76EE-4C68-8F91-C8BC46DF3A77}"/>
                    </a:ext>
                  </a:extLst>
                </p:cNvPr>
                <p:cNvSpPr/>
                <p:nvPr/>
              </p:nvSpPr>
              <p:spPr>
                <a:xfrm>
                  <a:off x="9683496" y="3118104"/>
                  <a:ext cx="2029968" cy="1057656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5DB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8000"/>
                    </a:srgbClr>
                  </a:outerShdw>
                </a:effectLst>
              </p:spPr>
            </p:sp>
            <p:sp>
              <p:nvSpPr>
                <p:cNvPr id="1078" name="Shape 111">
                  <a:extLst>
                    <a:ext uri="{FF2B5EF4-FFF2-40B4-BE49-F238E27FC236}">
                      <a16:creationId xmlns:a16="http://schemas.microsoft.com/office/drawing/2014/main" id="{7D189995-FE72-4CAB-A72F-968F29F99413}"/>
                    </a:ext>
                  </a:extLst>
                </p:cNvPr>
                <p:cNvSpPr/>
                <p:nvPr/>
              </p:nvSpPr>
              <p:spPr>
                <a:xfrm>
                  <a:off x="9683496" y="3118104"/>
                  <a:ext cx="54864" cy="1057656"/>
                </a:xfrm>
                <a:prstGeom prst="rect">
                  <a:avLst/>
                </a:prstGeom>
                <a:solidFill>
                  <a:srgbClr val="1B3A6B"/>
                </a:solidFill>
                <a:ln/>
              </p:spPr>
            </p:sp>
          </p:grpSp>
          <p:grpSp>
            <p:nvGrpSpPr>
              <p:cNvPr id="1079" name="Group 1078">
                <a:extLst>
                  <a:ext uri="{FF2B5EF4-FFF2-40B4-BE49-F238E27FC236}">
                    <a16:creationId xmlns:a16="http://schemas.microsoft.com/office/drawing/2014/main" id="{9905EAE9-C058-B50A-5C53-11F4C96E3115}"/>
                  </a:ext>
                </a:extLst>
              </p:cNvPr>
              <p:cNvGrpSpPr/>
              <p:nvPr/>
            </p:nvGrpSpPr>
            <p:grpSpPr>
              <a:xfrm>
                <a:off x="7210144" y="4325986"/>
                <a:ext cx="1454250" cy="528828"/>
                <a:chOff x="9683496" y="3118104"/>
                <a:chExt cx="2029968" cy="1057656"/>
              </a:xfrm>
            </p:grpSpPr>
            <p:sp>
              <p:nvSpPr>
                <p:cNvPr id="1080" name="Shape 110">
                  <a:extLst>
                    <a:ext uri="{FF2B5EF4-FFF2-40B4-BE49-F238E27FC236}">
                      <a16:creationId xmlns:a16="http://schemas.microsoft.com/office/drawing/2014/main" id="{9A8B8B1A-D59E-9953-C35E-69AFC88E145B}"/>
                    </a:ext>
                  </a:extLst>
                </p:cNvPr>
                <p:cNvSpPr/>
                <p:nvPr/>
              </p:nvSpPr>
              <p:spPr>
                <a:xfrm>
                  <a:off x="9683496" y="3118104"/>
                  <a:ext cx="2029968" cy="1057656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5DB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8000"/>
                    </a:srgbClr>
                  </a:outerShdw>
                </a:effectLst>
              </p:spPr>
            </p:sp>
            <p:sp>
              <p:nvSpPr>
                <p:cNvPr id="1081" name="Shape 111">
                  <a:extLst>
                    <a:ext uri="{FF2B5EF4-FFF2-40B4-BE49-F238E27FC236}">
                      <a16:creationId xmlns:a16="http://schemas.microsoft.com/office/drawing/2014/main" id="{EFE2C5C0-75BD-D418-17E8-6C622020A07E}"/>
                    </a:ext>
                  </a:extLst>
                </p:cNvPr>
                <p:cNvSpPr/>
                <p:nvPr/>
              </p:nvSpPr>
              <p:spPr>
                <a:xfrm>
                  <a:off x="9683496" y="3118104"/>
                  <a:ext cx="54864" cy="1057656"/>
                </a:xfrm>
                <a:prstGeom prst="rect">
                  <a:avLst/>
                </a:prstGeom>
                <a:solidFill>
                  <a:srgbClr val="1B3A6B"/>
                </a:solidFill>
                <a:ln/>
              </p:spPr>
            </p:sp>
          </p:grpSp>
          <p:sp>
            <p:nvSpPr>
              <p:cNvPr id="1082" name="Shape 113">
                <a:extLst>
                  <a:ext uri="{FF2B5EF4-FFF2-40B4-BE49-F238E27FC236}">
                    <a16:creationId xmlns:a16="http://schemas.microsoft.com/office/drawing/2014/main" id="{E98D20D6-C411-7A15-C86A-506B0F481F00}"/>
                  </a:ext>
                </a:extLst>
              </p:cNvPr>
              <p:cNvSpPr/>
              <p:nvPr/>
            </p:nvSpPr>
            <p:spPr>
              <a:xfrm>
                <a:off x="7963678" y="3479580"/>
                <a:ext cx="0" cy="158790"/>
              </a:xfrm>
              <a:prstGeom prst="line">
                <a:avLst/>
              </a:prstGeom>
              <a:noFill/>
              <a:ln w="15240">
                <a:solidFill>
                  <a:srgbClr val="64748B"/>
                </a:solidFill>
                <a:prstDash val="solid"/>
              </a:ln>
            </p:spPr>
          </p:sp>
          <p:sp>
            <p:nvSpPr>
              <p:cNvPr id="1083" name="Shape 113">
                <a:extLst>
                  <a:ext uri="{FF2B5EF4-FFF2-40B4-BE49-F238E27FC236}">
                    <a16:creationId xmlns:a16="http://schemas.microsoft.com/office/drawing/2014/main" id="{E3D22A7C-53F2-E814-70DB-9499C946F777}"/>
                  </a:ext>
                </a:extLst>
              </p:cNvPr>
              <p:cNvSpPr/>
              <p:nvPr/>
            </p:nvSpPr>
            <p:spPr>
              <a:xfrm>
                <a:off x="7963678" y="4167196"/>
                <a:ext cx="0" cy="158790"/>
              </a:xfrm>
              <a:prstGeom prst="line">
                <a:avLst/>
              </a:prstGeom>
              <a:noFill/>
              <a:ln w="15240">
                <a:solidFill>
                  <a:srgbClr val="64748B"/>
                </a:solidFill>
                <a:prstDash val="solid"/>
              </a:ln>
            </p:spPr>
          </p:sp>
          <p:sp>
            <p:nvSpPr>
              <p:cNvPr id="1084" name="Text 112">
                <a:extLst>
                  <a:ext uri="{FF2B5EF4-FFF2-40B4-BE49-F238E27FC236}">
                    <a16:creationId xmlns:a16="http://schemas.microsoft.com/office/drawing/2014/main" id="{3A74302E-40FA-1CEE-50DF-3D8E596D580B}"/>
                  </a:ext>
                </a:extLst>
              </p:cNvPr>
              <p:cNvSpPr/>
              <p:nvPr/>
            </p:nvSpPr>
            <p:spPr>
              <a:xfrm>
                <a:off x="7304596" y="2913888"/>
                <a:ext cx="1350264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Real-time Power BI</a:t>
                </a:r>
                <a:endParaRPr lang="en-US" sz="800">
                  <a:latin typeface="Biome" panose="020B0503030204020804" pitchFamily="34" charset="0"/>
                  <a:cs typeface="Biome" panose="020B0503030204020804" pitchFamily="34" charset="0"/>
                </a:endParaRPr>
              </a:p>
              <a:p>
                <a:pPr marL="0" indent="0">
                  <a:buNone/>
                </a:pPr>
                <a:r>
                  <a:rPr lang="en-US" sz="800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dashboard pulls from</a:t>
                </a:r>
                <a:endParaRPr lang="en-US" sz="800">
                  <a:latin typeface="Biome" panose="020B0503030204020804" pitchFamily="34" charset="0"/>
                  <a:cs typeface="Biome" panose="020B0503030204020804" pitchFamily="34" charset="0"/>
                </a:endParaRPr>
              </a:p>
              <a:p>
                <a:pPr marL="0" indent="0">
                  <a:buNone/>
                </a:pPr>
                <a:r>
                  <a:rPr lang="en-US" sz="800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SharePoint</a:t>
                </a:r>
                <a:endParaRPr lang="en-US" sz="800">
                  <a:latin typeface="Biome" panose="020B0503030204020804" pitchFamily="34" charset="0"/>
                  <a:cs typeface="Biome" panose="020B0503030204020804" pitchFamily="34" charset="0"/>
                </a:endParaRPr>
              </a:p>
            </p:txBody>
          </p:sp>
          <p:sp>
            <p:nvSpPr>
              <p:cNvPr id="1085" name="Text 112">
                <a:extLst>
                  <a:ext uri="{FF2B5EF4-FFF2-40B4-BE49-F238E27FC236}">
                    <a16:creationId xmlns:a16="http://schemas.microsoft.com/office/drawing/2014/main" id="{4DE4DCE8-DC46-DF4E-35D0-C109CBD8F3F2}"/>
                  </a:ext>
                </a:extLst>
              </p:cNvPr>
              <p:cNvSpPr/>
              <p:nvPr/>
            </p:nvSpPr>
            <p:spPr>
              <a:xfrm>
                <a:off x="7304596" y="3599688"/>
                <a:ext cx="1350264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Track compliance maturity &amp; departmental risk heatmaps</a:t>
                </a:r>
                <a:endParaRPr lang="en-US" sz="800">
                  <a:latin typeface="Biome" panose="020B0503030204020804" pitchFamily="34" charset="0"/>
                  <a:cs typeface="Biome" panose="020B0503030204020804" pitchFamily="34" charset="0"/>
                </a:endParaRPr>
              </a:p>
            </p:txBody>
          </p:sp>
          <p:sp>
            <p:nvSpPr>
              <p:cNvPr id="1086" name="Text 112">
                <a:extLst>
                  <a:ext uri="{FF2B5EF4-FFF2-40B4-BE49-F238E27FC236}">
                    <a16:creationId xmlns:a16="http://schemas.microsoft.com/office/drawing/2014/main" id="{F5AD5E73-C25B-8BCA-D5B6-1779F0302B28}"/>
                  </a:ext>
                </a:extLst>
              </p:cNvPr>
              <p:cNvSpPr/>
              <p:nvPr/>
            </p:nvSpPr>
            <p:spPr>
              <a:xfrm>
                <a:off x="7304596" y="4285488"/>
                <a:ext cx="1350264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Repeat-offender trends &amp; escalation analysis</a:t>
                </a:r>
                <a:endParaRPr lang="en-US" sz="800">
                  <a:latin typeface="Biome" panose="020B0503030204020804" pitchFamily="34" charset="0"/>
                  <a:cs typeface="Biome" panose="020B0503030204020804" pitchFamily="34" charset="0"/>
                </a:endParaRPr>
              </a:p>
            </p:txBody>
          </p:sp>
        </p:grpSp>
        <p:sp>
          <p:nvSpPr>
            <p:cNvPr id="1037" name="Shape 7">
              <a:extLst>
                <a:ext uri="{FF2B5EF4-FFF2-40B4-BE49-F238E27FC236}">
                  <a16:creationId xmlns:a16="http://schemas.microsoft.com/office/drawing/2014/main" id="{4F25A7A1-A1C8-75A6-9C49-334A2A41811E}"/>
                </a:ext>
              </a:extLst>
            </p:cNvPr>
            <p:cNvSpPr/>
            <p:nvPr/>
          </p:nvSpPr>
          <p:spPr>
            <a:xfrm>
              <a:off x="6616599" y="1121439"/>
              <a:ext cx="326222" cy="30479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/>
            <a:effectLst/>
          </p:spPr>
        </p:sp>
        <p:pic>
          <p:nvPicPr>
            <p:cNvPr id="1115" name="Image 3" descr="preencoded.png">
              <a:extLst>
                <a:ext uri="{FF2B5EF4-FFF2-40B4-BE49-F238E27FC236}">
                  <a16:creationId xmlns:a16="http://schemas.microsoft.com/office/drawing/2014/main" id="{28EEA5A6-22C1-1A16-4695-9A3FD80B0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42735" y="1123429"/>
              <a:ext cx="285269" cy="285269"/>
            </a:xfrm>
            <a:prstGeom prst="rect">
              <a:avLst/>
            </a:prstGeom>
            <a:effectLst/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88F3B79-EA42-B742-4DBE-9A887BC37F97}"/>
                </a:ext>
              </a:extLst>
            </p:cNvPr>
            <p:cNvGrpSpPr/>
            <p:nvPr/>
          </p:nvGrpSpPr>
          <p:grpSpPr>
            <a:xfrm>
              <a:off x="5410498" y="1088136"/>
              <a:ext cx="1630137" cy="3881090"/>
              <a:chOff x="5410498" y="1088136"/>
              <a:chExt cx="1630137" cy="3881090"/>
            </a:xfrm>
            <a:effectLst/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6C98E9B6-5D50-AB52-0B12-47B427E025AB}"/>
                  </a:ext>
                </a:extLst>
              </p:cNvPr>
              <p:cNvGrpSpPr/>
              <p:nvPr/>
            </p:nvGrpSpPr>
            <p:grpSpPr>
              <a:xfrm>
                <a:off x="5410498" y="1088136"/>
                <a:ext cx="1614227" cy="3881090"/>
                <a:chOff x="5410498" y="1088136"/>
                <a:chExt cx="1614227" cy="3881090"/>
              </a:xfrm>
            </p:grpSpPr>
            <p:sp>
              <p:nvSpPr>
                <p:cNvPr id="1062" name="Shape 3">
                  <a:extLst>
                    <a:ext uri="{FF2B5EF4-FFF2-40B4-BE49-F238E27FC236}">
                      <a16:creationId xmlns:a16="http://schemas.microsoft.com/office/drawing/2014/main" id="{9A98C63E-D2E4-E7C0-9104-2BD641B8727F}"/>
                    </a:ext>
                  </a:extLst>
                </p:cNvPr>
                <p:cNvSpPr/>
                <p:nvPr/>
              </p:nvSpPr>
              <p:spPr>
                <a:xfrm>
                  <a:off x="5414439" y="1088136"/>
                  <a:ext cx="1576743" cy="3881090"/>
                </a:xfrm>
                <a:prstGeom prst="rect">
                  <a:avLst/>
                </a:prstGeom>
                <a:solidFill>
                  <a:srgbClr val="F2F2F2"/>
                </a:solidFill>
                <a:ln w="12700">
                  <a:solidFill>
                    <a:srgbClr val="E8E8E8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8000"/>
                    </a:srgbClr>
                  </a:outerShdw>
                </a:effectLst>
              </p:spPr>
              <p:txBody>
                <a:bodyPr/>
                <a:lstStyle/>
                <a:p>
                  <a:endParaRPr lang="en-US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</p:txBody>
            </p:sp>
            <p:grpSp>
              <p:nvGrpSpPr>
                <p:cNvPr id="1090" name="Group 1089">
                  <a:extLst>
                    <a:ext uri="{FF2B5EF4-FFF2-40B4-BE49-F238E27FC236}">
                      <a16:creationId xmlns:a16="http://schemas.microsoft.com/office/drawing/2014/main" id="{14DD6800-FFF3-6A6B-DC94-A93977C063C0}"/>
                    </a:ext>
                  </a:extLst>
                </p:cNvPr>
                <p:cNvGrpSpPr/>
                <p:nvPr/>
              </p:nvGrpSpPr>
              <p:grpSpPr>
                <a:xfrm>
                  <a:off x="5410498" y="1088136"/>
                  <a:ext cx="1597419" cy="3823210"/>
                  <a:chOff x="7119993" y="1088136"/>
                  <a:chExt cx="1597419" cy="3823210"/>
                </a:xfrm>
              </p:grpSpPr>
              <p:sp>
                <p:nvSpPr>
                  <p:cNvPr id="1091" name="Shape 108">
                    <a:extLst>
                      <a:ext uri="{FF2B5EF4-FFF2-40B4-BE49-F238E27FC236}">
                        <a16:creationId xmlns:a16="http://schemas.microsoft.com/office/drawing/2014/main" id="{26CF1C02-3E7F-0BDC-33D4-693D25A1956C}"/>
                      </a:ext>
                    </a:extLst>
                  </p:cNvPr>
                  <p:cNvSpPr/>
                  <p:nvPr/>
                </p:nvSpPr>
                <p:spPr>
                  <a:xfrm>
                    <a:off x="7119993" y="2468880"/>
                    <a:ext cx="52166" cy="361950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/>
                </p:spPr>
              </p:sp>
              <p:sp>
                <p:nvSpPr>
                  <p:cNvPr id="1092" name="Text 109">
                    <a:extLst>
                      <a:ext uri="{FF2B5EF4-FFF2-40B4-BE49-F238E27FC236}">
                        <a16:creationId xmlns:a16="http://schemas.microsoft.com/office/drawing/2014/main" id="{DE645F6F-9A7F-1E01-9604-2A1FA4635A46}"/>
                      </a:ext>
                    </a:extLst>
                  </p:cNvPr>
                  <p:cNvSpPr/>
                  <p:nvPr/>
                </p:nvSpPr>
                <p:spPr>
                  <a:xfrm>
                    <a:off x="7202589" y="2396173"/>
                    <a:ext cx="1484392" cy="4318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>
                      <a:buNone/>
                    </a:pPr>
                    <a:r>
                      <a:rPr lang="en-US" sz="700" i="1">
                        <a:solidFill>
                          <a:srgbClr val="374151"/>
                        </a:solidFill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Actor: Employee or Consultant</a:t>
                    </a:r>
                    <a:endParaRPr lang="en-US" sz="700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093" name="Shape 102">
                    <a:extLst>
                      <a:ext uri="{FF2B5EF4-FFF2-40B4-BE49-F238E27FC236}">
                        <a16:creationId xmlns:a16="http://schemas.microsoft.com/office/drawing/2014/main" id="{621EFFD2-79F4-8F0A-D32F-88BAFE8F03D3}"/>
                      </a:ext>
                    </a:extLst>
                  </p:cNvPr>
                  <p:cNvSpPr/>
                  <p:nvPr/>
                </p:nvSpPr>
                <p:spPr>
                  <a:xfrm>
                    <a:off x="7119993" y="1088136"/>
                    <a:ext cx="1597419" cy="1380744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/>
                </p:spPr>
                <p:txBody>
                  <a:bodyPr/>
                  <a:lstStyle/>
                  <a:p>
                    <a:endParaRPr lang="en-US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095" name="Text 106">
                    <a:extLst>
                      <a:ext uri="{FF2B5EF4-FFF2-40B4-BE49-F238E27FC236}">
                        <a16:creationId xmlns:a16="http://schemas.microsoft.com/office/drawing/2014/main" id="{D7074768-477B-39BA-DEF3-36F1F75389D0}"/>
                      </a:ext>
                    </a:extLst>
                  </p:cNvPr>
                  <p:cNvSpPr/>
                  <p:nvPr/>
                </p:nvSpPr>
                <p:spPr>
                  <a:xfrm>
                    <a:off x="7186844" y="1437366"/>
                    <a:ext cx="1484392" cy="6858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>
                        <a:solidFill>
                          <a:srgbClr val="FFFFFF"/>
                        </a:solidFill>
                        <a:latin typeface="Biome" panose="020B0503030204020804" pitchFamily="34" charset="0"/>
                        <a:ea typeface="Arial Black" pitchFamily="34" charset="-122"/>
                        <a:cs typeface="Biome" panose="020B0503030204020804" pitchFamily="34" charset="0"/>
                      </a:rPr>
                      <a:t>APPEALS &amp; RESOLUTION</a:t>
                    </a:r>
                    <a:endParaRPr lang="en-US" sz="1000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096" name="Shape 128">
                    <a:extLst>
                      <a:ext uri="{FF2B5EF4-FFF2-40B4-BE49-F238E27FC236}">
                        <a16:creationId xmlns:a16="http://schemas.microsoft.com/office/drawing/2014/main" id="{1DB91863-E8F5-E57A-5DF8-8D3237949060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55785" y="1708954"/>
                    <a:ext cx="91440" cy="139110"/>
                  </a:xfrm>
                  <a:prstGeom prst="rect">
                    <a:avLst/>
                  </a:prstGeom>
                  <a:solidFill>
                    <a:srgbClr val="FFFFFF"/>
                  </a:solidFill>
                  <a:ln/>
                </p:spPr>
              </p:sp>
              <p:grpSp>
                <p:nvGrpSpPr>
                  <p:cNvPr id="1097" name="Group 1096">
                    <a:extLst>
                      <a:ext uri="{FF2B5EF4-FFF2-40B4-BE49-F238E27FC236}">
                        <a16:creationId xmlns:a16="http://schemas.microsoft.com/office/drawing/2014/main" id="{42A3061F-34A4-DF68-BB9D-7FF000D20CFB}"/>
                      </a:ext>
                    </a:extLst>
                  </p:cNvPr>
                  <p:cNvGrpSpPr/>
                  <p:nvPr/>
                </p:nvGrpSpPr>
                <p:grpSpPr>
                  <a:xfrm>
                    <a:off x="7204108" y="1121028"/>
                    <a:ext cx="243780" cy="268414"/>
                    <a:chOff x="7204108" y="1184937"/>
                    <a:chExt cx="243780" cy="268414"/>
                  </a:xfrm>
                </p:grpSpPr>
                <p:sp>
                  <p:nvSpPr>
                    <p:cNvPr id="1112" name="Shape 103">
                      <a:extLst>
                        <a:ext uri="{FF2B5EF4-FFF2-40B4-BE49-F238E27FC236}">
                          <a16:creationId xmlns:a16="http://schemas.microsoft.com/office/drawing/2014/main" id="{48996509-3364-AA75-521E-9838987AC3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0144" y="1203694"/>
                      <a:ext cx="237744" cy="230901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/>
                  </p:spPr>
                </p:sp>
                <p:sp>
                  <p:nvSpPr>
                    <p:cNvPr id="1113" name="Text 104">
                      <a:extLst>
                        <a:ext uri="{FF2B5EF4-FFF2-40B4-BE49-F238E27FC236}">
                          <a16:creationId xmlns:a16="http://schemas.microsoft.com/office/drawing/2014/main" id="{CADEA314-ACA7-640A-C855-D9C5BAB72A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4108" y="1184937"/>
                      <a:ext cx="230902" cy="268414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Biome" panose="020B0503030204020804" pitchFamily="34" charset="0"/>
                          <a:ea typeface="Arial Black" pitchFamily="34" charset="-122"/>
                          <a:cs typeface="Biome" panose="020B0503030204020804" pitchFamily="34" charset="0"/>
                        </a:rPr>
                        <a:t>04</a:t>
                      </a:r>
                      <a:endParaRPr lang="en-US" sz="11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p:txBody>
                </p:sp>
              </p:grpSp>
              <p:grpSp>
                <p:nvGrpSpPr>
                  <p:cNvPr id="1098" name="Group 1097">
                    <a:extLst>
                      <a:ext uri="{FF2B5EF4-FFF2-40B4-BE49-F238E27FC236}">
                        <a16:creationId xmlns:a16="http://schemas.microsoft.com/office/drawing/2014/main" id="{FCC3C856-70A6-22FF-230B-6CF604354B2C}"/>
                      </a:ext>
                    </a:extLst>
                  </p:cNvPr>
                  <p:cNvGrpSpPr/>
                  <p:nvPr/>
                </p:nvGrpSpPr>
                <p:grpSpPr>
                  <a:xfrm>
                    <a:off x="7202589" y="2846272"/>
                    <a:ext cx="1454250" cy="530438"/>
                    <a:chOff x="9672950" y="2909144"/>
                    <a:chExt cx="2029968" cy="1060876"/>
                  </a:xfrm>
                </p:grpSpPr>
                <p:sp>
                  <p:nvSpPr>
                    <p:cNvPr id="1110" name="Shape 110">
                      <a:extLst>
                        <a:ext uri="{FF2B5EF4-FFF2-40B4-BE49-F238E27FC236}">
                          <a16:creationId xmlns:a16="http://schemas.microsoft.com/office/drawing/2014/main" id="{2BAC98F9-41DC-CCA9-63FB-1A3944B520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2950" y="2909144"/>
                      <a:ext cx="2029968" cy="1057656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0">
                      <a:solidFill>
                        <a:srgbClr val="D1D5DB"/>
                      </a:solidFill>
                      <a:prstDash val="solid"/>
                    </a:ln>
                    <a:effectLst>
                      <a:outerShdw blurRad="63500" dist="25400" dir="8100000" algn="bl" rotWithShape="0">
                        <a:srgbClr val="000000">
                          <a:alpha val="8000"/>
                        </a:srgbClr>
                      </a:outerShdw>
                    </a:effectLst>
                  </p:spPr>
                </p:sp>
                <p:sp>
                  <p:nvSpPr>
                    <p:cNvPr id="1111" name="Shape 111">
                      <a:extLst>
                        <a:ext uri="{FF2B5EF4-FFF2-40B4-BE49-F238E27FC236}">
                          <a16:creationId xmlns:a16="http://schemas.microsoft.com/office/drawing/2014/main" id="{BCDB5ABB-39FA-B29B-5B95-52E9E01E48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8178" y="2912364"/>
                      <a:ext cx="54864" cy="1057656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/>
                  </p:spPr>
                </p:sp>
              </p:grpSp>
              <p:grpSp>
                <p:nvGrpSpPr>
                  <p:cNvPr id="1099" name="Group 1098">
                    <a:extLst>
                      <a:ext uri="{FF2B5EF4-FFF2-40B4-BE49-F238E27FC236}">
                        <a16:creationId xmlns:a16="http://schemas.microsoft.com/office/drawing/2014/main" id="{CCEA6B8A-3D1D-9371-27C7-BE6FAB484610}"/>
                      </a:ext>
                    </a:extLst>
                  </p:cNvPr>
                  <p:cNvGrpSpPr/>
                  <p:nvPr/>
                </p:nvGrpSpPr>
                <p:grpSpPr>
                  <a:xfrm>
                    <a:off x="7225988" y="3471523"/>
                    <a:ext cx="1430853" cy="1439823"/>
                    <a:chOff x="9705609" y="2784412"/>
                    <a:chExt cx="1997308" cy="2879646"/>
                  </a:xfrm>
                </p:grpSpPr>
                <p:sp>
                  <p:nvSpPr>
                    <p:cNvPr id="1108" name="Shape 110">
                      <a:extLst>
                        <a:ext uri="{FF2B5EF4-FFF2-40B4-BE49-F238E27FC236}">
                          <a16:creationId xmlns:a16="http://schemas.microsoft.com/office/drawing/2014/main" id="{F2D891F0-6E69-DCE3-3C8F-DDEDA68568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10106" y="2784412"/>
                      <a:ext cx="1992811" cy="89306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0">
                      <a:solidFill>
                        <a:srgbClr val="D1D5DB"/>
                      </a:solidFill>
                      <a:prstDash val="solid"/>
                    </a:ln>
                    <a:effectLst>
                      <a:outerShdw blurRad="63500" dist="25400" dir="8100000" algn="bl" rotWithShape="0">
                        <a:srgbClr val="000000">
                          <a:alpha val="8000"/>
                        </a:srgbClr>
                      </a:outerShdw>
                    </a:effectLst>
                  </p:spPr>
                  <p:txBody>
                    <a:bodyPr/>
                    <a:lstStyle/>
                    <a:p>
                      <a:endParaRPr lang="en-US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p:txBody>
                </p:sp>
                <p:sp>
                  <p:nvSpPr>
                    <p:cNvPr id="1109" name="Shape 111">
                      <a:extLst>
                        <a:ext uri="{FF2B5EF4-FFF2-40B4-BE49-F238E27FC236}">
                          <a16:creationId xmlns:a16="http://schemas.microsoft.com/office/drawing/2014/main" id="{0F493FCE-F49B-4A66-61AD-F3806D12F8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19900" y="2799142"/>
                      <a:ext cx="63819" cy="863600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/>
                  </p:spPr>
                </p:sp>
                <p:sp>
                  <p:nvSpPr>
                    <p:cNvPr id="1125" name="Shape 110">
                      <a:extLst>
                        <a:ext uri="{FF2B5EF4-FFF2-40B4-BE49-F238E27FC236}">
                          <a16:creationId xmlns:a16="http://schemas.microsoft.com/office/drawing/2014/main" id="{A8BE137E-D52A-8361-E6CA-A66514DD90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05609" y="4770996"/>
                      <a:ext cx="1992811" cy="893062"/>
                    </a:xfrm>
                    <a:prstGeom prst="rect">
                      <a:avLst/>
                    </a:prstGeom>
                    <a:solidFill>
                      <a:srgbClr val="FEF2F2"/>
                    </a:solidFill>
                    <a:ln w="12700">
                      <a:solidFill>
                        <a:srgbClr val="D1D5DB"/>
                      </a:solidFill>
                      <a:prstDash val="solid"/>
                    </a:ln>
                    <a:effectLst>
                      <a:outerShdw blurRad="63500" dist="25400" dir="8100000" algn="bl" rotWithShape="0">
                        <a:srgbClr val="000000">
                          <a:alpha val="8000"/>
                        </a:srgbClr>
                      </a:outerShdw>
                    </a:effectLst>
                  </p:spPr>
                  <p:txBody>
                    <a:bodyPr/>
                    <a:lstStyle/>
                    <a:p>
                      <a:endParaRPr lang="en-US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p:txBody>
                </p:sp>
              </p:grpSp>
              <p:sp>
                <p:nvSpPr>
                  <p:cNvPr id="1101" name="Shape 113">
                    <a:extLst>
                      <a:ext uri="{FF2B5EF4-FFF2-40B4-BE49-F238E27FC236}">
                        <a16:creationId xmlns:a16="http://schemas.microsoft.com/office/drawing/2014/main" id="{4B1E393D-4B18-B81C-1933-21915E00230C}"/>
                      </a:ext>
                    </a:extLst>
                  </p:cNvPr>
                  <p:cNvSpPr/>
                  <p:nvPr/>
                </p:nvSpPr>
                <p:spPr>
                  <a:xfrm flipV="1">
                    <a:off x="7946967" y="3369975"/>
                    <a:ext cx="0" cy="100365"/>
                  </a:xfrm>
                  <a:prstGeom prst="line">
                    <a:avLst/>
                  </a:prstGeom>
                  <a:noFill/>
                  <a:ln w="15240">
                    <a:solidFill>
                      <a:srgbClr val="64748B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103" name="Text 112">
                    <a:extLst>
                      <a:ext uri="{FF2B5EF4-FFF2-40B4-BE49-F238E27FC236}">
                        <a16:creationId xmlns:a16="http://schemas.microsoft.com/office/drawing/2014/main" id="{A5409031-3AF2-4E66-82FE-AD4AF6A6D927}"/>
                      </a:ext>
                    </a:extLst>
                  </p:cNvPr>
                  <p:cNvSpPr/>
                  <p:nvPr/>
                </p:nvSpPr>
                <p:spPr>
                  <a:xfrm>
                    <a:off x="7304596" y="2858375"/>
                    <a:ext cx="1350264" cy="518335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Submits appeal via</a:t>
                    </a:r>
                    <a:endParaRPr kumimoji="0" lang="en-US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Appeals form within</a:t>
                    </a:r>
                    <a:endParaRPr kumimoji="0" lang="en-US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3–5 working days</a:t>
                    </a:r>
                    <a:endParaRPr kumimoji="0" lang="en-US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104" name="Text 112">
                    <a:extLst>
                      <a:ext uri="{FF2B5EF4-FFF2-40B4-BE49-F238E27FC236}">
                        <a16:creationId xmlns:a16="http://schemas.microsoft.com/office/drawing/2014/main" id="{20EE4B73-795A-C2F7-9AC0-26CC756A76F8}"/>
                      </a:ext>
                    </a:extLst>
                  </p:cNvPr>
                  <p:cNvSpPr/>
                  <p:nvPr/>
                </p:nvSpPr>
                <p:spPr>
                  <a:xfrm>
                    <a:off x="7332239" y="3465452"/>
                    <a:ext cx="1226906" cy="43601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>
                      <a:defRPr/>
                    </a:pPr>
                    <a:r>
                      <a:rPr lang="en-US" sz="800">
                        <a:solidFill>
                          <a:srgbClr val="374151"/>
                        </a:solidFill>
                        <a:latin typeface="Biome"/>
                        <a:cs typeface="Biome"/>
                      </a:rPr>
                      <a:t>HR reviews</a:t>
                    </a:r>
                    <a:endParaRPr kumimoji="0" lang="en-US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the appeal</a:t>
                    </a:r>
                    <a:endParaRPr kumimoji="0" lang="en-US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</p:grpSp>
            <p:sp>
              <p:nvSpPr>
                <p:cNvPr id="1126" name="Shape 111">
                  <a:extLst>
                    <a:ext uri="{FF2B5EF4-FFF2-40B4-BE49-F238E27FC236}">
                      <a16:creationId xmlns:a16="http://schemas.microsoft.com/office/drawing/2014/main" id="{70E040E3-133F-ACED-516F-82120AAD6CE5}"/>
                    </a:ext>
                  </a:extLst>
                </p:cNvPr>
                <p:cNvSpPr/>
                <p:nvPr/>
              </p:nvSpPr>
              <p:spPr>
                <a:xfrm>
                  <a:off x="5521378" y="4472180"/>
                  <a:ext cx="45719" cy="43180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</p:sp>
            <p:sp>
              <p:nvSpPr>
                <p:cNvPr id="1127" name="Text 100">
                  <a:extLst>
                    <a:ext uri="{FF2B5EF4-FFF2-40B4-BE49-F238E27FC236}">
                      <a16:creationId xmlns:a16="http://schemas.microsoft.com/office/drawing/2014/main" id="{71E8CD20-36DB-606D-D43F-68D68197BC9F}"/>
                    </a:ext>
                  </a:extLst>
                </p:cNvPr>
                <p:cNvSpPr/>
                <p:nvPr/>
              </p:nvSpPr>
              <p:spPr>
                <a:xfrm>
                  <a:off x="5613183" y="4544564"/>
                  <a:ext cx="1411542" cy="29622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800" b="1">
                      <a:solidFill>
                        <a:srgbClr val="C0392B"/>
                      </a:solidFill>
                      <a:latin typeface="Biome" panose="020B0503030204020804" pitchFamily="34" charset="0"/>
                      <a:ea typeface="Arial" pitchFamily="34" charset="-122"/>
                      <a:cs typeface="Biome" panose="020B0503030204020804" pitchFamily="34" charset="0"/>
                    </a:rPr>
                    <a:t>YES → Record updated</a:t>
                  </a:r>
                  <a:endParaRPr lang="en-US" sz="800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  <a:p>
                  <a:pPr marL="0" indent="0">
                    <a:buNone/>
                  </a:pPr>
                  <a:r>
                    <a:rPr lang="en-US" sz="800" b="1">
                      <a:solidFill>
                        <a:srgbClr val="C0392B"/>
                      </a:solidFill>
                      <a:latin typeface="Biome" panose="020B0503030204020804" pitchFamily="34" charset="0"/>
                      <a:ea typeface="Arial" pitchFamily="34" charset="-122"/>
                      <a:cs typeface="Biome" panose="020B0503030204020804" pitchFamily="34" charset="0"/>
                    </a:rPr>
                    <a:t>with rationale,</a:t>
                  </a:r>
                  <a:endParaRPr lang="en-US" sz="800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  <a:p>
                  <a:pPr marL="0" indent="0">
                    <a:buNone/>
                  </a:pPr>
                  <a:r>
                    <a:rPr lang="en-US" sz="800" b="1">
                      <a:solidFill>
                        <a:srgbClr val="C0392B"/>
                      </a:solidFill>
                      <a:latin typeface="Biome" panose="020B0503030204020804" pitchFamily="34" charset="0"/>
                      <a:ea typeface="Arial" pitchFamily="34" charset="-122"/>
                      <a:cs typeface="Biome" panose="020B0503030204020804" pitchFamily="34" charset="0"/>
                    </a:rPr>
                    <a:t>case closed</a:t>
                  </a:r>
                  <a:endParaRPr lang="en-US" sz="800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</p:txBody>
            </p:sp>
          </p:grpSp>
          <p:sp>
            <p:nvSpPr>
              <p:cNvPr id="1128" name="Text 93">
                <a:extLst>
                  <a:ext uri="{FF2B5EF4-FFF2-40B4-BE49-F238E27FC236}">
                    <a16:creationId xmlns:a16="http://schemas.microsoft.com/office/drawing/2014/main" id="{B48A18E4-385F-6FED-5051-F2DED3E21087}"/>
                  </a:ext>
                </a:extLst>
              </p:cNvPr>
              <p:cNvSpPr/>
              <p:nvPr/>
            </p:nvSpPr>
            <p:spPr>
              <a:xfrm>
                <a:off x="5424005" y="4155408"/>
                <a:ext cx="1616630" cy="2987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 b="1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Appeal Upheld</a:t>
                </a:r>
                <a:endParaRPr lang="en-US" sz="700">
                  <a:latin typeface="Biome" panose="020B0503030204020804" pitchFamily="34" charset="0"/>
                  <a:cs typeface="Biome" panose="020B0503030204020804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700" b="1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or Waived?</a:t>
                </a:r>
                <a:endParaRPr lang="en-US" sz="700">
                  <a:latin typeface="Biome" panose="020B0503030204020804" pitchFamily="34" charset="0"/>
                  <a:cs typeface="Biome" panose="020B0503030204020804" pitchFamily="34" charset="0"/>
                </a:endParaRP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514DF6A-D25E-CA6E-5E98-1E4DE4019D76}"/>
                  </a:ext>
                </a:extLst>
              </p:cNvPr>
              <p:cNvGrpSpPr/>
              <p:nvPr/>
            </p:nvGrpSpPr>
            <p:grpSpPr>
              <a:xfrm>
                <a:off x="5534256" y="3969312"/>
                <a:ext cx="1388766" cy="197885"/>
                <a:chOff x="5554055" y="3976606"/>
                <a:chExt cx="1388766" cy="197885"/>
              </a:xfrm>
            </p:grpSpPr>
            <p:grpSp>
              <p:nvGrpSpPr>
                <p:cNvPr id="1122" name="Group 1121">
                  <a:extLst>
                    <a:ext uri="{FF2B5EF4-FFF2-40B4-BE49-F238E27FC236}">
                      <a16:creationId xmlns:a16="http://schemas.microsoft.com/office/drawing/2014/main" id="{D3487C22-F776-692B-46A3-7100C6BD2EDF}"/>
                    </a:ext>
                  </a:extLst>
                </p:cNvPr>
                <p:cNvGrpSpPr/>
                <p:nvPr/>
              </p:nvGrpSpPr>
              <p:grpSpPr>
                <a:xfrm>
                  <a:off x="5554055" y="3981641"/>
                  <a:ext cx="1388766" cy="189050"/>
                  <a:chOff x="4856551" y="5931496"/>
                  <a:chExt cx="1340816" cy="179249"/>
                </a:xfrm>
              </p:grpSpPr>
              <p:sp>
                <p:nvSpPr>
                  <p:cNvPr id="1118" name="Shape 91">
                    <a:extLst>
                      <a:ext uri="{FF2B5EF4-FFF2-40B4-BE49-F238E27FC236}">
                        <a16:creationId xmlns:a16="http://schemas.microsoft.com/office/drawing/2014/main" id="{189C5237-3052-B21B-346A-8DE9B803B4EC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5471451" y="5931202"/>
                    <a:ext cx="170330" cy="170918"/>
                  </a:xfrm>
                  <a:prstGeom prst="rect">
                    <a:avLst/>
                  </a:prstGeom>
                  <a:solidFill>
                    <a:srgbClr val="4B5563"/>
                  </a:solidFill>
                  <a:ln/>
                </p:spPr>
                <p:txBody>
                  <a:bodyPr/>
                  <a:lstStyle/>
                  <a:p>
                    <a:endParaRPr lang="en-US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119" name="Shape 92">
                    <a:extLst>
                      <a:ext uri="{FF2B5EF4-FFF2-40B4-BE49-F238E27FC236}">
                        <a16:creationId xmlns:a16="http://schemas.microsoft.com/office/drawing/2014/main" id="{1AC123B8-712D-2CB6-6221-7E9D6E0DFB9D}"/>
                      </a:ext>
                    </a:extLst>
                  </p:cNvPr>
                  <p:cNvSpPr/>
                  <p:nvPr/>
                </p:nvSpPr>
                <p:spPr>
                  <a:xfrm flipV="1">
                    <a:off x="4856551" y="5998952"/>
                    <a:ext cx="1340816" cy="43349"/>
                  </a:xfrm>
                  <a:prstGeom prst="rect">
                    <a:avLst/>
                  </a:prstGeom>
                  <a:solidFill>
                    <a:srgbClr val="000000"/>
                  </a:solidFill>
                  <a:ln/>
                </p:spPr>
                <p:txBody>
                  <a:bodyPr/>
                  <a:lstStyle/>
                  <a:p>
                    <a:endParaRPr lang="en-US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120" name="Shape 94">
                    <a:extLst>
                      <a:ext uri="{FF2B5EF4-FFF2-40B4-BE49-F238E27FC236}">
                        <a16:creationId xmlns:a16="http://schemas.microsoft.com/office/drawing/2014/main" id="{8D2B4AF4-C603-62F4-8B97-975BEC94E9E2}"/>
                      </a:ext>
                    </a:extLst>
                  </p:cNvPr>
                  <p:cNvSpPr/>
                  <p:nvPr/>
                </p:nvSpPr>
                <p:spPr>
                  <a:xfrm>
                    <a:off x="5650307" y="5937980"/>
                    <a:ext cx="197500" cy="167450"/>
                  </a:xfrm>
                  <a:prstGeom prst="rect">
                    <a:avLst/>
                  </a:prstGeom>
                  <a:solidFill>
                    <a:srgbClr val="16A34A"/>
                  </a:solidFill>
                  <a:ln/>
                </p:spPr>
                <p:txBody>
                  <a:bodyPr/>
                  <a:lstStyle/>
                  <a:p>
                    <a:endParaRPr lang="en-US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121" name="Shape 96">
                    <a:extLst>
                      <a:ext uri="{FF2B5EF4-FFF2-40B4-BE49-F238E27FC236}">
                        <a16:creationId xmlns:a16="http://schemas.microsoft.com/office/drawing/2014/main" id="{7FFEB549-01A3-A02F-1EED-09FB2BEC1591}"/>
                      </a:ext>
                    </a:extLst>
                  </p:cNvPr>
                  <p:cNvSpPr/>
                  <p:nvPr/>
                </p:nvSpPr>
                <p:spPr>
                  <a:xfrm>
                    <a:off x="5273935" y="5943296"/>
                    <a:ext cx="197500" cy="167449"/>
                  </a:xfrm>
                  <a:prstGeom prst="rect">
                    <a:avLst/>
                  </a:prstGeom>
                  <a:solidFill>
                    <a:srgbClr val="C0392B"/>
                  </a:solidFill>
                  <a:ln/>
                </p:spPr>
              </p:sp>
            </p:grpSp>
            <p:sp>
              <p:nvSpPr>
                <p:cNvPr id="1131" name="Text 95">
                  <a:extLst>
                    <a:ext uri="{FF2B5EF4-FFF2-40B4-BE49-F238E27FC236}">
                      <a16:creationId xmlns:a16="http://schemas.microsoft.com/office/drawing/2014/main" id="{EBC80BB4-17DC-76FF-F960-BB3374A9D16F}"/>
                    </a:ext>
                  </a:extLst>
                </p:cNvPr>
                <p:cNvSpPr/>
                <p:nvPr/>
              </p:nvSpPr>
              <p:spPr>
                <a:xfrm>
                  <a:off x="6332941" y="3976606"/>
                  <a:ext cx="292608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00" b="1">
                      <a:solidFill>
                        <a:srgbClr val="FFFFFF"/>
                      </a:solidFill>
                      <a:latin typeface="Biome" panose="020B0503030204020804" pitchFamily="34" charset="0"/>
                      <a:ea typeface="Arial" pitchFamily="34" charset="-122"/>
                      <a:cs typeface="Biome" panose="020B0503030204020804" pitchFamily="34" charset="0"/>
                    </a:rPr>
                    <a:t>YES</a:t>
                  </a:r>
                  <a:endParaRPr lang="en-US" sz="700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</p:txBody>
            </p:sp>
            <p:sp>
              <p:nvSpPr>
                <p:cNvPr id="1132" name="Text 95">
                  <a:extLst>
                    <a:ext uri="{FF2B5EF4-FFF2-40B4-BE49-F238E27FC236}">
                      <a16:creationId xmlns:a16="http://schemas.microsoft.com/office/drawing/2014/main" id="{D5B54C0C-7838-7E10-11C6-0F5E8F8E8932}"/>
                    </a:ext>
                  </a:extLst>
                </p:cNvPr>
                <p:cNvSpPr/>
                <p:nvPr/>
              </p:nvSpPr>
              <p:spPr>
                <a:xfrm>
                  <a:off x="5946389" y="3988587"/>
                  <a:ext cx="257741" cy="1859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00" b="1">
                      <a:solidFill>
                        <a:srgbClr val="FFFFFF"/>
                      </a:solidFill>
                      <a:latin typeface="Biome" panose="020B0503030204020804" pitchFamily="34" charset="0"/>
                      <a:ea typeface="Arial" pitchFamily="34" charset="-122"/>
                      <a:cs typeface="Biome" panose="020B0503030204020804" pitchFamily="34" charset="0"/>
                    </a:rPr>
                    <a:t>NO</a:t>
                  </a:r>
                  <a:endParaRPr lang="en-US" sz="700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</p:txBody>
            </p:sp>
          </p:grp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174B849-BC4E-2DFC-9972-27EDCBEEE952}"/>
                </a:ext>
              </a:extLst>
            </p:cNvPr>
            <p:cNvGrpSpPr/>
            <p:nvPr/>
          </p:nvGrpSpPr>
          <p:grpSpPr>
            <a:xfrm>
              <a:off x="3709500" y="1099297"/>
              <a:ext cx="1658763" cy="3881090"/>
              <a:chOff x="5410498" y="1088136"/>
              <a:chExt cx="1658763" cy="3881090"/>
            </a:xfrm>
            <a:effectLst/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4D179F8-BCC9-BCCB-EAA3-A1F3E06DC384}"/>
                  </a:ext>
                </a:extLst>
              </p:cNvPr>
              <p:cNvGrpSpPr/>
              <p:nvPr/>
            </p:nvGrpSpPr>
            <p:grpSpPr>
              <a:xfrm>
                <a:off x="5410498" y="1088136"/>
                <a:ext cx="1623611" cy="3881090"/>
                <a:chOff x="5410498" y="1088136"/>
                <a:chExt cx="1623611" cy="3881090"/>
              </a:xfrm>
            </p:grpSpPr>
            <p:sp>
              <p:nvSpPr>
                <p:cNvPr id="1138" name="Shape 3">
                  <a:extLst>
                    <a:ext uri="{FF2B5EF4-FFF2-40B4-BE49-F238E27FC236}">
                      <a16:creationId xmlns:a16="http://schemas.microsoft.com/office/drawing/2014/main" id="{EBEAD846-60F9-38A9-2657-CA4BF7C40007}"/>
                    </a:ext>
                  </a:extLst>
                </p:cNvPr>
                <p:cNvSpPr/>
                <p:nvPr/>
              </p:nvSpPr>
              <p:spPr>
                <a:xfrm>
                  <a:off x="5414439" y="1088136"/>
                  <a:ext cx="1576743" cy="3881090"/>
                </a:xfrm>
                <a:prstGeom prst="rect">
                  <a:avLst/>
                </a:prstGeom>
                <a:solidFill>
                  <a:srgbClr val="F2F2F2"/>
                </a:solidFill>
                <a:ln w="12700">
                  <a:solidFill>
                    <a:srgbClr val="E8E8E8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8000"/>
                    </a:srgbClr>
                  </a:outerShdw>
                </a:effectLst>
              </p:spPr>
              <p:txBody>
                <a:bodyPr/>
                <a:lstStyle/>
                <a:p>
                  <a:endParaRPr lang="en-US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</p:txBody>
            </p:sp>
            <p:grpSp>
              <p:nvGrpSpPr>
                <p:cNvPr id="1139" name="Group 1138">
                  <a:extLst>
                    <a:ext uri="{FF2B5EF4-FFF2-40B4-BE49-F238E27FC236}">
                      <a16:creationId xmlns:a16="http://schemas.microsoft.com/office/drawing/2014/main" id="{AAE192CC-51B3-D0BA-F30B-D8D4C138752E}"/>
                    </a:ext>
                  </a:extLst>
                </p:cNvPr>
                <p:cNvGrpSpPr/>
                <p:nvPr/>
              </p:nvGrpSpPr>
              <p:grpSpPr>
                <a:xfrm>
                  <a:off x="5410498" y="1088136"/>
                  <a:ext cx="1597419" cy="3862003"/>
                  <a:chOff x="7119993" y="1088136"/>
                  <a:chExt cx="1597419" cy="3862003"/>
                </a:xfrm>
              </p:grpSpPr>
              <p:sp>
                <p:nvSpPr>
                  <p:cNvPr id="1142" name="Shape 108">
                    <a:extLst>
                      <a:ext uri="{FF2B5EF4-FFF2-40B4-BE49-F238E27FC236}">
                        <a16:creationId xmlns:a16="http://schemas.microsoft.com/office/drawing/2014/main" id="{AF7159AA-8F2B-DFD9-B551-5DCC54ABAF2E}"/>
                      </a:ext>
                    </a:extLst>
                  </p:cNvPr>
                  <p:cNvSpPr/>
                  <p:nvPr/>
                </p:nvSpPr>
                <p:spPr>
                  <a:xfrm>
                    <a:off x="7119993" y="2468880"/>
                    <a:ext cx="52166" cy="361950"/>
                  </a:xfrm>
                  <a:prstGeom prst="rect">
                    <a:avLst/>
                  </a:prstGeom>
                  <a:solidFill>
                    <a:srgbClr val="FF0000"/>
                  </a:solidFill>
                  <a:ln/>
                </p:spPr>
              </p:sp>
              <p:sp>
                <p:nvSpPr>
                  <p:cNvPr id="1143" name="Text 109">
                    <a:extLst>
                      <a:ext uri="{FF2B5EF4-FFF2-40B4-BE49-F238E27FC236}">
                        <a16:creationId xmlns:a16="http://schemas.microsoft.com/office/drawing/2014/main" id="{CE992F5C-C228-3234-0B96-F7B6626053B6}"/>
                      </a:ext>
                    </a:extLst>
                  </p:cNvPr>
                  <p:cNvSpPr/>
                  <p:nvPr/>
                </p:nvSpPr>
                <p:spPr>
                  <a:xfrm>
                    <a:off x="7202589" y="2433955"/>
                    <a:ext cx="1484392" cy="4318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700" i="1">
                        <a:solidFill>
                          <a:srgbClr val="374151"/>
                        </a:solidFill>
                        <a:latin typeface="Biome"/>
                        <a:ea typeface="Arial" pitchFamily="34" charset="-122"/>
                        <a:cs typeface="Biome"/>
                      </a:rPr>
                      <a:t>Actor: HR, or Executive Management</a:t>
                    </a:r>
                    <a:endParaRPr lang="en-US" sz="700">
                      <a:latin typeface="Biome"/>
                      <a:cs typeface="Biome"/>
                    </a:endParaRPr>
                  </a:p>
                </p:txBody>
              </p:sp>
              <p:sp>
                <p:nvSpPr>
                  <p:cNvPr id="1144" name="Shape 102">
                    <a:extLst>
                      <a:ext uri="{FF2B5EF4-FFF2-40B4-BE49-F238E27FC236}">
                        <a16:creationId xmlns:a16="http://schemas.microsoft.com/office/drawing/2014/main" id="{BECFAEC1-DC0D-FA6C-3932-38E7E0E09B3B}"/>
                      </a:ext>
                    </a:extLst>
                  </p:cNvPr>
                  <p:cNvSpPr/>
                  <p:nvPr/>
                </p:nvSpPr>
                <p:spPr>
                  <a:xfrm>
                    <a:off x="7119993" y="1088136"/>
                    <a:ext cx="1597419" cy="1380744"/>
                  </a:xfrm>
                  <a:prstGeom prst="rect">
                    <a:avLst/>
                  </a:prstGeom>
                  <a:solidFill>
                    <a:srgbClr val="FF0000"/>
                  </a:solidFill>
                  <a:ln/>
                </p:spPr>
                <p:txBody>
                  <a:bodyPr/>
                  <a:lstStyle/>
                  <a:p>
                    <a:endParaRPr lang="en-US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145" name="Text 106">
                    <a:extLst>
                      <a:ext uri="{FF2B5EF4-FFF2-40B4-BE49-F238E27FC236}">
                        <a16:creationId xmlns:a16="http://schemas.microsoft.com/office/drawing/2014/main" id="{0991C9C2-A195-C74B-5D2B-9A18A36FC27C}"/>
                      </a:ext>
                    </a:extLst>
                  </p:cNvPr>
                  <p:cNvSpPr/>
                  <p:nvPr/>
                </p:nvSpPr>
                <p:spPr>
                  <a:xfrm>
                    <a:off x="7232489" y="1475201"/>
                    <a:ext cx="1366640" cy="6858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>
                        <a:solidFill>
                          <a:srgbClr val="FFFFFF"/>
                        </a:solidFill>
                        <a:latin typeface="Biome" panose="020B0503030204020804" pitchFamily="34" charset="0"/>
                        <a:ea typeface="Arial Black" pitchFamily="34" charset="-122"/>
                        <a:cs typeface="Biome" panose="020B0503030204020804" pitchFamily="34" charset="0"/>
                      </a:rPr>
                      <a:t>REVIEWS &amp; APPROVAL WORKFLOW</a:t>
                    </a:r>
                    <a:endParaRPr lang="en-US" sz="1000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146" name="Shape 128">
                    <a:extLst>
                      <a:ext uri="{FF2B5EF4-FFF2-40B4-BE49-F238E27FC236}">
                        <a16:creationId xmlns:a16="http://schemas.microsoft.com/office/drawing/2014/main" id="{1E5B05C2-7AD7-44F1-5882-6D5CF612A87C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55785" y="1708954"/>
                    <a:ext cx="91440" cy="139110"/>
                  </a:xfrm>
                  <a:prstGeom prst="rect">
                    <a:avLst/>
                  </a:prstGeom>
                  <a:solidFill>
                    <a:srgbClr val="FFFFFF"/>
                  </a:solidFill>
                  <a:ln/>
                </p:spPr>
              </p:sp>
              <p:grpSp>
                <p:nvGrpSpPr>
                  <p:cNvPr id="1147" name="Group 1146">
                    <a:extLst>
                      <a:ext uri="{FF2B5EF4-FFF2-40B4-BE49-F238E27FC236}">
                        <a16:creationId xmlns:a16="http://schemas.microsoft.com/office/drawing/2014/main" id="{438BA52D-AE85-4440-B32D-1D48C58CD747}"/>
                      </a:ext>
                    </a:extLst>
                  </p:cNvPr>
                  <p:cNvGrpSpPr/>
                  <p:nvPr/>
                </p:nvGrpSpPr>
                <p:grpSpPr>
                  <a:xfrm>
                    <a:off x="7204108" y="1121028"/>
                    <a:ext cx="243780" cy="268414"/>
                    <a:chOff x="7204108" y="1184937"/>
                    <a:chExt cx="243780" cy="268414"/>
                  </a:xfrm>
                </p:grpSpPr>
                <p:sp>
                  <p:nvSpPr>
                    <p:cNvPr id="1031" name="Shape 103">
                      <a:extLst>
                        <a:ext uri="{FF2B5EF4-FFF2-40B4-BE49-F238E27FC236}">
                          <a16:creationId xmlns:a16="http://schemas.microsoft.com/office/drawing/2014/main" id="{C0323D9F-3CD0-0986-3889-E990282B17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0144" y="1203694"/>
                      <a:ext cx="237744" cy="230901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/>
                  </p:spPr>
                </p:sp>
                <p:sp>
                  <p:nvSpPr>
                    <p:cNvPr id="1034" name="Text 104">
                      <a:extLst>
                        <a:ext uri="{FF2B5EF4-FFF2-40B4-BE49-F238E27FC236}">
                          <a16:creationId xmlns:a16="http://schemas.microsoft.com/office/drawing/2014/main" id="{3EE7C5D8-E504-7D36-7FDA-8F0A5FDAB7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4108" y="1184937"/>
                      <a:ext cx="230902" cy="268414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Biome" panose="020B0503030204020804" pitchFamily="34" charset="0"/>
                          <a:ea typeface="Arial Black" pitchFamily="34" charset="-122"/>
                          <a:cs typeface="Biome" panose="020B0503030204020804" pitchFamily="34" charset="0"/>
                        </a:rPr>
                        <a:t>03</a:t>
                      </a:r>
                      <a:endParaRPr lang="en-US" sz="1100">
                        <a:solidFill>
                          <a:srgbClr val="FF0000"/>
                        </a:solidFill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p:txBody>
                </p:sp>
              </p:grpSp>
              <p:grpSp>
                <p:nvGrpSpPr>
                  <p:cNvPr id="1148" name="Group 1147">
                    <a:extLst>
                      <a:ext uri="{FF2B5EF4-FFF2-40B4-BE49-F238E27FC236}">
                        <a16:creationId xmlns:a16="http://schemas.microsoft.com/office/drawing/2014/main" id="{1103350C-BB85-27ED-F47D-C0410F02DF57}"/>
                      </a:ext>
                    </a:extLst>
                  </p:cNvPr>
                  <p:cNvGrpSpPr/>
                  <p:nvPr/>
                </p:nvGrpSpPr>
                <p:grpSpPr>
                  <a:xfrm>
                    <a:off x="7202589" y="2846272"/>
                    <a:ext cx="1454250" cy="530438"/>
                    <a:chOff x="9672950" y="2909144"/>
                    <a:chExt cx="2029968" cy="1060876"/>
                  </a:xfrm>
                </p:grpSpPr>
                <p:sp>
                  <p:nvSpPr>
                    <p:cNvPr id="1029" name="Shape 110">
                      <a:extLst>
                        <a:ext uri="{FF2B5EF4-FFF2-40B4-BE49-F238E27FC236}">
                          <a16:creationId xmlns:a16="http://schemas.microsoft.com/office/drawing/2014/main" id="{32CCB279-57EA-D8DC-DA46-1E83FE810B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2950" y="2909144"/>
                      <a:ext cx="2029968" cy="1057656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0">
                      <a:solidFill>
                        <a:srgbClr val="D1D5DB"/>
                      </a:solidFill>
                      <a:prstDash val="solid"/>
                    </a:ln>
                    <a:effectLst>
                      <a:outerShdw blurRad="63500" dist="25400" dir="8100000" algn="bl" rotWithShape="0">
                        <a:srgbClr val="000000">
                          <a:alpha val="8000"/>
                        </a:srgbClr>
                      </a:outerShdw>
                    </a:effectLst>
                  </p:spPr>
                </p:sp>
                <p:sp>
                  <p:nvSpPr>
                    <p:cNvPr id="1030" name="Shape 111">
                      <a:extLst>
                        <a:ext uri="{FF2B5EF4-FFF2-40B4-BE49-F238E27FC236}">
                          <a16:creationId xmlns:a16="http://schemas.microsoft.com/office/drawing/2014/main" id="{EF14020E-715E-FF3F-383B-20E50FCBB6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8178" y="2912364"/>
                      <a:ext cx="54864" cy="10576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/>
                  </p:spPr>
                </p:sp>
              </p:grpSp>
              <p:grpSp>
                <p:nvGrpSpPr>
                  <p:cNvPr id="1149" name="Group 1148">
                    <a:extLst>
                      <a:ext uri="{FF2B5EF4-FFF2-40B4-BE49-F238E27FC236}">
                        <a16:creationId xmlns:a16="http://schemas.microsoft.com/office/drawing/2014/main" id="{1425A89E-5979-37E2-7B6E-D7201866FE1E}"/>
                      </a:ext>
                    </a:extLst>
                  </p:cNvPr>
                  <p:cNvGrpSpPr/>
                  <p:nvPr/>
                </p:nvGrpSpPr>
                <p:grpSpPr>
                  <a:xfrm>
                    <a:off x="7229209" y="3980334"/>
                    <a:ext cx="1433792" cy="969805"/>
                    <a:chOff x="9710107" y="3802034"/>
                    <a:chExt cx="2001411" cy="1939610"/>
                  </a:xfrm>
                </p:grpSpPr>
                <p:sp>
                  <p:nvSpPr>
                    <p:cNvPr id="1025" name="Shape 110">
                      <a:extLst>
                        <a:ext uri="{FF2B5EF4-FFF2-40B4-BE49-F238E27FC236}">
                          <a16:creationId xmlns:a16="http://schemas.microsoft.com/office/drawing/2014/main" id="{28D7E1AD-63CB-E1FB-E76B-EBA06FAE3C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10107" y="4848582"/>
                      <a:ext cx="1992810" cy="89306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0">
                      <a:solidFill>
                        <a:srgbClr val="D1D5DB"/>
                      </a:solidFill>
                      <a:prstDash val="solid"/>
                    </a:ln>
                    <a:effectLst>
                      <a:outerShdw blurRad="63500" dist="25400" dir="8100000" algn="bl" rotWithShape="0">
                        <a:srgbClr val="000000">
                          <a:alpha val="8000"/>
                        </a:srgbClr>
                      </a:outerShdw>
                    </a:effectLst>
                  </p:spPr>
                  <p:txBody>
                    <a:bodyPr/>
                    <a:lstStyle/>
                    <a:p>
                      <a:endParaRPr lang="en-US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p:txBody>
                </p:sp>
                <p:sp>
                  <p:nvSpPr>
                    <p:cNvPr id="1027" name="Shape 111">
                      <a:extLst>
                        <a:ext uri="{FF2B5EF4-FFF2-40B4-BE49-F238E27FC236}">
                          <a16:creationId xmlns:a16="http://schemas.microsoft.com/office/drawing/2014/main" id="{03A8BD45-0DA1-569D-F647-54C91E1B67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21541" y="4859394"/>
                      <a:ext cx="63819" cy="8636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/>
                  </p:spPr>
                </p:sp>
                <p:sp>
                  <p:nvSpPr>
                    <p:cNvPr id="1028" name="Shape 110">
                      <a:extLst>
                        <a:ext uri="{FF2B5EF4-FFF2-40B4-BE49-F238E27FC236}">
                          <a16:creationId xmlns:a16="http://schemas.microsoft.com/office/drawing/2014/main" id="{F100EED7-A758-FE40-B4D4-AD3CFF408D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18708" y="3802034"/>
                      <a:ext cx="1992810" cy="893062"/>
                    </a:xfrm>
                    <a:prstGeom prst="rect">
                      <a:avLst/>
                    </a:prstGeom>
                    <a:solidFill>
                      <a:srgbClr val="FEF2F2"/>
                    </a:solidFill>
                    <a:ln w="12700">
                      <a:solidFill>
                        <a:srgbClr val="D1D5DB"/>
                      </a:solidFill>
                      <a:prstDash val="solid"/>
                    </a:ln>
                    <a:effectLst>
                      <a:outerShdw blurRad="63500" dist="25400" dir="8100000" algn="bl" rotWithShape="0">
                        <a:srgbClr val="000000">
                          <a:alpha val="8000"/>
                        </a:srgbClr>
                      </a:outerShdw>
                    </a:effectLst>
                  </p:spPr>
                  <p:txBody>
                    <a:bodyPr/>
                    <a:lstStyle/>
                    <a:p>
                      <a:endParaRPr lang="en-US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p:txBody>
                </p:sp>
              </p:grpSp>
              <p:sp>
                <p:nvSpPr>
                  <p:cNvPr id="1151" name="Text 112">
                    <a:extLst>
                      <a:ext uri="{FF2B5EF4-FFF2-40B4-BE49-F238E27FC236}">
                        <a16:creationId xmlns:a16="http://schemas.microsoft.com/office/drawing/2014/main" id="{DE252EAB-8AC0-B6FA-E1A7-8DC1E31124EF}"/>
                      </a:ext>
                    </a:extLst>
                  </p:cNvPr>
                  <p:cNvSpPr/>
                  <p:nvPr/>
                </p:nvSpPr>
                <p:spPr>
                  <a:xfrm>
                    <a:off x="7304596" y="2858375"/>
                    <a:ext cx="1350264" cy="518335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800">
                        <a:solidFill>
                          <a:srgbClr val="374151"/>
                        </a:solidFill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Receives Outlook</a:t>
                    </a:r>
                    <a:endParaRPr lang="en-US" sz="800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  <a:p>
                    <a:r>
                      <a:rPr lang="en-US" sz="800">
                        <a:solidFill>
                          <a:srgbClr val="374151"/>
                        </a:solidFill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approval request</a:t>
                    </a:r>
                    <a:endParaRPr lang="en-US" sz="800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024" name="Text 112">
                    <a:extLst>
                      <a:ext uri="{FF2B5EF4-FFF2-40B4-BE49-F238E27FC236}">
                        <a16:creationId xmlns:a16="http://schemas.microsoft.com/office/drawing/2014/main" id="{BEC77FED-3F63-58BA-9DCF-D0729420BB23}"/>
                      </a:ext>
                    </a:extLst>
                  </p:cNvPr>
                  <p:cNvSpPr/>
                  <p:nvPr/>
                </p:nvSpPr>
                <p:spPr>
                  <a:xfrm>
                    <a:off x="7332239" y="4497537"/>
                    <a:ext cx="1226906" cy="43601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700">
                        <a:solidFill>
                          <a:srgbClr val="374151"/>
                        </a:solidFill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Status marked</a:t>
                    </a:r>
                    <a:endParaRPr lang="en-US" sz="700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  <a:p>
                    <a:r>
                      <a:rPr lang="en-US" sz="700">
                        <a:solidFill>
                          <a:srgbClr val="374151"/>
                        </a:solidFill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'</a:t>
                    </a:r>
                    <a:r>
                      <a:rPr lang="en-US" sz="700" err="1">
                        <a:solidFill>
                          <a:srgbClr val="374151"/>
                        </a:solidFill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Finalised</a:t>
                    </a:r>
                    <a:r>
                      <a:rPr lang="en-US" sz="700">
                        <a:solidFill>
                          <a:srgbClr val="374151"/>
                        </a:solidFill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' in SharePoint</a:t>
                    </a:r>
                    <a:endParaRPr lang="en-US" sz="700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  <a:p>
                    <a:r>
                      <a:rPr lang="en-US" sz="700">
                        <a:solidFill>
                          <a:srgbClr val="374151"/>
                        </a:solidFill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(Immutable Audit Record)</a:t>
                    </a:r>
                    <a:endParaRPr lang="en-US" sz="700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</p:grpSp>
            <p:sp>
              <p:nvSpPr>
                <p:cNvPr id="1140" name="Shape 111">
                  <a:extLst>
                    <a:ext uri="{FF2B5EF4-FFF2-40B4-BE49-F238E27FC236}">
                      <a16:creationId xmlns:a16="http://schemas.microsoft.com/office/drawing/2014/main" id="{8C573C25-A62E-AFA0-0C6B-06C4846BCF71}"/>
                    </a:ext>
                  </a:extLst>
                </p:cNvPr>
                <p:cNvSpPr/>
                <p:nvPr/>
              </p:nvSpPr>
              <p:spPr>
                <a:xfrm>
                  <a:off x="5525356" y="3988986"/>
                  <a:ext cx="45719" cy="43180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</p:sp>
            <p:sp>
              <p:nvSpPr>
                <p:cNvPr id="1141" name="Text 100">
                  <a:extLst>
                    <a:ext uri="{FF2B5EF4-FFF2-40B4-BE49-F238E27FC236}">
                      <a16:creationId xmlns:a16="http://schemas.microsoft.com/office/drawing/2014/main" id="{3C063C67-7F67-6B74-4EAC-D1252C3E0616}"/>
                    </a:ext>
                  </a:extLst>
                </p:cNvPr>
                <p:cNvSpPr/>
                <p:nvPr/>
              </p:nvSpPr>
              <p:spPr>
                <a:xfrm>
                  <a:off x="5622567" y="4068321"/>
                  <a:ext cx="1411542" cy="29622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r>
                    <a:rPr lang="en-US" sz="800" b="1">
                      <a:solidFill>
                        <a:srgbClr val="C0392B"/>
                      </a:solidFill>
                      <a:latin typeface="Biome" panose="020B0503030204020804" pitchFamily="34" charset="0"/>
                      <a:ea typeface="Arial" pitchFamily="34" charset="-122"/>
                      <a:cs typeface="Biome" panose="020B0503030204020804" pitchFamily="34" charset="0"/>
                    </a:rPr>
                    <a:t>NO → Return for</a:t>
                  </a:r>
                  <a:endParaRPr lang="en-US" sz="800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  <a:p>
                  <a:r>
                    <a:rPr lang="en-US" sz="800" b="1">
                      <a:solidFill>
                        <a:srgbClr val="C0392B"/>
                      </a:solidFill>
                      <a:latin typeface="Biome" panose="020B0503030204020804" pitchFamily="34" charset="0"/>
                      <a:ea typeface="Arial" pitchFamily="34" charset="-122"/>
                      <a:cs typeface="Biome" panose="020B0503030204020804" pitchFamily="34" charset="0"/>
                    </a:rPr>
                    <a:t>review &amp; adjustment</a:t>
                  </a:r>
                  <a:endParaRPr lang="en-US" sz="800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</p:txBody>
            </p:sp>
          </p:grpSp>
          <p:sp>
            <p:nvSpPr>
              <p:cNvPr id="1123" name="Text 93">
                <a:extLst>
                  <a:ext uri="{FF2B5EF4-FFF2-40B4-BE49-F238E27FC236}">
                    <a16:creationId xmlns:a16="http://schemas.microsoft.com/office/drawing/2014/main" id="{0E792FA1-BDB9-5806-4290-43FB86BFFC97}"/>
                  </a:ext>
                </a:extLst>
              </p:cNvPr>
              <p:cNvSpPr/>
              <p:nvPr/>
            </p:nvSpPr>
            <p:spPr>
              <a:xfrm>
                <a:off x="5452631" y="3669267"/>
                <a:ext cx="1616630" cy="2987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74151"/>
                    </a:solidFill>
                    <a:effectLst/>
                    <a:uLnTx/>
                    <a:uFillTx/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Approved?</a:t>
                </a: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iome" panose="020B0503030204020804" pitchFamily="34" charset="0"/>
                  <a:cs typeface="Biome" panose="020B0503030204020804" pitchFamily="34" charset="0"/>
                </a:endParaRPr>
              </a:p>
            </p:txBody>
          </p:sp>
        </p:grpSp>
        <p:grpSp>
          <p:nvGrpSpPr>
            <p:cNvPr id="1035" name="Group 1034">
              <a:extLst>
                <a:ext uri="{FF2B5EF4-FFF2-40B4-BE49-F238E27FC236}">
                  <a16:creationId xmlns:a16="http://schemas.microsoft.com/office/drawing/2014/main" id="{7B1B16DA-DA20-0A37-190F-32F5F140D308}"/>
                </a:ext>
              </a:extLst>
            </p:cNvPr>
            <p:cNvGrpSpPr/>
            <p:nvPr/>
          </p:nvGrpSpPr>
          <p:grpSpPr>
            <a:xfrm>
              <a:off x="2004321" y="1088136"/>
              <a:ext cx="1692142" cy="3881090"/>
              <a:chOff x="5394495" y="1088136"/>
              <a:chExt cx="1692142" cy="3881090"/>
            </a:xfrm>
            <a:effectLst/>
          </p:grpSpPr>
          <p:grpSp>
            <p:nvGrpSpPr>
              <p:cNvPr id="1036" name="Group 1035">
                <a:extLst>
                  <a:ext uri="{FF2B5EF4-FFF2-40B4-BE49-F238E27FC236}">
                    <a16:creationId xmlns:a16="http://schemas.microsoft.com/office/drawing/2014/main" id="{CA51C03B-AF10-9B46-5B3C-34C60B21FFA7}"/>
                  </a:ext>
                </a:extLst>
              </p:cNvPr>
              <p:cNvGrpSpPr/>
              <p:nvPr/>
            </p:nvGrpSpPr>
            <p:grpSpPr>
              <a:xfrm>
                <a:off x="5410498" y="1088136"/>
                <a:ext cx="1676139" cy="3881090"/>
                <a:chOff x="5410498" y="1088136"/>
                <a:chExt cx="1676139" cy="3881090"/>
              </a:xfrm>
            </p:grpSpPr>
            <p:sp>
              <p:nvSpPr>
                <p:cNvPr id="1047" name="Shape 3">
                  <a:extLst>
                    <a:ext uri="{FF2B5EF4-FFF2-40B4-BE49-F238E27FC236}">
                      <a16:creationId xmlns:a16="http://schemas.microsoft.com/office/drawing/2014/main" id="{1335101A-4D14-6D2F-743C-70FB0D263FA8}"/>
                    </a:ext>
                  </a:extLst>
                </p:cNvPr>
                <p:cNvSpPr/>
                <p:nvPr/>
              </p:nvSpPr>
              <p:spPr>
                <a:xfrm>
                  <a:off x="5414439" y="1088136"/>
                  <a:ext cx="1576743" cy="3881090"/>
                </a:xfrm>
                <a:prstGeom prst="rect">
                  <a:avLst/>
                </a:prstGeom>
                <a:solidFill>
                  <a:srgbClr val="F2F2F2"/>
                </a:solidFill>
                <a:ln w="12700">
                  <a:solidFill>
                    <a:srgbClr val="E8E8E8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8000"/>
                    </a:srgbClr>
                  </a:outerShdw>
                </a:effectLst>
              </p:spPr>
              <p:txBody>
                <a:bodyPr/>
                <a:lstStyle/>
                <a:p>
                  <a:endParaRPr lang="en-US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</p:txBody>
            </p:sp>
            <p:grpSp>
              <p:nvGrpSpPr>
                <p:cNvPr id="1048" name="Group 1047">
                  <a:extLst>
                    <a:ext uri="{FF2B5EF4-FFF2-40B4-BE49-F238E27FC236}">
                      <a16:creationId xmlns:a16="http://schemas.microsoft.com/office/drawing/2014/main" id="{F3982495-2646-F1B8-D08D-E74220F9372D}"/>
                    </a:ext>
                  </a:extLst>
                </p:cNvPr>
                <p:cNvGrpSpPr/>
                <p:nvPr/>
              </p:nvGrpSpPr>
              <p:grpSpPr>
                <a:xfrm>
                  <a:off x="5410498" y="1088136"/>
                  <a:ext cx="1643699" cy="3843816"/>
                  <a:chOff x="7119993" y="1088136"/>
                  <a:chExt cx="1643699" cy="3843816"/>
                </a:xfrm>
              </p:grpSpPr>
              <p:sp>
                <p:nvSpPr>
                  <p:cNvPr id="1051" name="Shape 108">
                    <a:extLst>
                      <a:ext uri="{FF2B5EF4-FFF2-40B4-BE49-F238E27FC236}">
                        <a16:creationId xmlns:a16="http://schemas.microsoft.com/office/drawing/2014/main" id="{9853A1CA-4982-2F7B-48D2-966CF489BC41}"/>
                      </a:ext>
                    </a:extLst>
                  </p:cNvPr>
                  <p:cNvSpPr/>
                  <p:nvPr/>
                </p:nvSpPr>
                <p:spPr>
                  <a:xfrm>
                    <a:off x="7119993" y="2468880"/>
                    <a:ext cx="52166" cy="361950"/>
                  </a:xfrm>
                  <a:prstGeom prst="rect">
                    <a:avLst/>
                  </a:prstGeom>
                  <a:solidFill>
                    <a:srgbClr val="FF0000"/>
                  </a:solidFill>
                  <a:ln/>
                </p:spPr>
              </p:sp>
              <p:sp>
                <p:nvSpPr>
                  <p:cNvPr id="1052" name="Text 109">
                    <a:extLst>
                      <a:ext uri="{FF2B5EF4-FFF2-40B4-BE49-F238E27FC236}">
                        <a16:creationId xmlns:a16="http://schemas.microsoft.com/office/drawing/2014/main" id="{93C893AF-33A4-E03F-035C-14138CF87EE9}"/>
                      </a:ext>
                    </a:extLst>
                  </p:cNvPr>
                  <p:cNvSpPr/>
                  <p:nvPr/>
                </p:nvSpPr>
                <p:spPr>
                  <a:xfrm>
                    <a:off x="7202589" y="2501254"/>
                    <a:ext cx="1431377" cy="298793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600" i="1">
                        <a:solidFill>
                          <a:srgbClr val="374151"/>
                        </a:solidFill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Actor: System — Power Automate (triggered automatically)</a:t>
                    </a:r>
                    <a:endParaRPr lang="en-US" sz="600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053" name="Shape 102">
                    <a:extLst>
                      <a:ext uri="{FF2B5EF4-FFF2-40B4-BE49-F238E27FC236}">
                        <a16:creationId xmlns:a16="http://schemas.microsoft.com/office/drawing/2014/main" id="{9A682AF4-87BF-60FC-86B8-B94C98BD3386}"/>
                      </a:ext>
                    </a:extLst>
                  </p:cNvPr>
                  <p:cNvSpPr/>
                  <p:nvPr/>
                </p:nvSpPr>
                <p:spPr>
                  <a:xfrm>
                    <a:off x="7119993" y="1088136"/>
                    <a:ext cx="1597419" cy="1380744"/>
                  </a:xfrm>
                  <a:prstGeom prst="rect">
                    <a:avLst/>
                  </a:prstGeom>
                  <a:solidFill>
                    <a:srgbClr val="FF0000"/>
                  </a:solidFill>
                  <a:ln/>
                </p:spPr>
                <p:txBody>
                  <a:bodyPr/>
                  <a:lstStyle/>
                  <a:p>
                    <a:endParaRPr lang="en-US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054" name="Text 106">
                    <a:extLst>
                      <a:ext uri="{FF2B5EF4-FFF2-40B4-BE49-F238E27FC236}">
                        <a16:creationId xmlns:a16="http://schemas.microsoft.com/office/drawing/2014/main" id="{C7309F73-B59C-4E94-4E8C-6CE974158DBB}"/>
                      </a:ext>
                    </a:extLst>
                  </p:cNvPr>
                  <p:cNvSpPr/>
                  <p:nvPr/>
                </p:nvSpPr>
                <p:spPr>
                  <a:xfrm>
                    <a:off x="7321766" y="1437366"/>
                    <a:ext cx="1236226" cy="6858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>
                        <a:solidFill>
                          <a:srgbClr val="FFFFFF"/>
                        </a:solidFill>
                        <a:latin typeface="Biome" panose="020B0503030204020804" pitchFamily="34" charset="0"/>
                        <a:ea typeface="Arial Black" pitchFamily="34" charset="-122"/>
                        <a:cs typeface="Biome" panose="020B0503030204020804" pitchFamily="34" charset="0"/>
                      </a:rPr>
                      <a:t>AUTOMATED POLICY ENGINE</a:t>
                    </a:r>
                    <a:endParaRPr lang="en-US" sz="1000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055" name="Shape 128">
                    <a:extLst>
                      <a:ext uri="{FF2B5EF4-FFF2-40B4-BE49-F238E27FC236}">
                        <a16:creationId xmlns:a16="http://schemas.microsoft.com/office/drawing/2014/main" id="{EA047E3F-36BE-9971-6887-505976A6CF52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155785" y="1708954"/>
                    <a:ext cx="91440" cy="139110"/>
                  </a:xfrm>
                  <a:prstGeom prst="rect">
                    <a:avLst/>
                  </a:prstGeom>
                  <a:solidFill>
                    <a:srgbClr val="FFFFFF"/>
                  </a:solidFill>
                  <a:ln/>
                </p:spPr>
              </p:sp>
              <p:grpSp>
                <p:nvGrpSpPr>
                  <p:cNvPr id="1056" name="Group 1055">
                    <a:extLst>
                      <a:ext uri="{FF2B5EF4-FFF2-40B4-BE49-F238E27FC236}">
                        <a16:creationId xmlns:a16="http://schemas.microsoft.com/office/drawing/2014/main" id="{35061574-8E6E-8A87-C472-274052C4EC48}"/>
                      </a:ext>
                    </a:extLst>
                  </p:cNvPr>
                  <p:cNvGrpSpPr/>
                  <p:nvPr/>
                </p:nvGrpSpPr>
                <p:grpSpPr>
                  <a:xfrm>
                    <a:off x="7204108" y="1121028"/>
                    <a:ext cx="243780" cy="268414"/>
                    <a:chOff x="7204108" y="1184937"/>
                    <a:chExt cx="243780" cy="268414"/>
                  </a:xfrm>
                </p:grpSpPr>
                <p:sp>
                  <p:nvSpPr>
                    <p:cNvPr id="1107" name="Shape 103">
                      <a:extLst>
                        <a:ext uri="{FF2B5EF4-FFF2-40B4-BE49-F238E27FC236}">
                          <a16:creationId xmlns:a16="http://schemas.microsoft.com/office/drawing/2014/main" id="{497BA942-5A3F-7923-C8B9-4B2CFFDD34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0144" y="1203694"/>
                      <a:ext cx="237744" cy="230901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/>
                  </p:spPr>
                </p:sp>
                <p:sp>
                  <p:nvSpPr>
                    <p:cNvPr id="1116" name="Text 104">
                      <a:extLst>
                        <a:ext uri="{FF2B5EF4-FFF2-40B4-BE49-F238E27FC236}">
                          <a16:creationId xmlns:a16="http://schemas.microsoft.com/office/drawing/2014/main" id="{C808C360-8212-00BA-9C07-B5386BEF92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4108" y="1184937"/>
                      <a:ext cx="230902" cy="268414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Biome" panose="020B0503030204020804" pitchFamily="34" charset="0"/>
                          <a:ea typeface="Arial Black" pitchFamily="34" charset="-122"/>
                          <a:cs typeface="Biome" panose="020B0503030204020804" pitchFamily="34" charset="0"/>
                        </a:rPr>
                        <a:t>02</a:t>
                      </a:r>
                      <a:endParaRPr lang="en-US" sz="1100">
                        <a:solidFill>
                          <a:srgbClr val="FF0000"/>
                        </a:solidFill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p:txBody>
                </p:sp>
              </p:grpSp>
              <p:grpSp>
                <p:nvGrpSpPr>
                  <p:cNvPr id="1057" name="Group 1056">
                    <a:extLst>
                      <a:ext uri="{FF2B5EF4-FFF2-40B4-BE49-F238E27FC236}">
                        <a16:creationId xmlns:a16="http://schemas.microsoft.com/office/drawing/2014/main" id="{6E46F7A2-B04A-BDD0-6522-B6809D961A93}"/>
                      </a:ext>
                    </a:extLst>
                  </p:cNvPr>
                  <p:cNvGrpSpPr/>
                  <p:nvPr/>
                </p:nvGrpSpPr>
                <p:grpSpPr>
                  <a:xfrm>
                    <a:off x="7202589" y="2846272"/>
                    <a:ext cx="1454250" cy="530438"/>
                    <a:chOff x="9672950" y="2909144"/>
                    <a:chExt cx="2029968" cy="1060876"/>
                  </a:xfrm>
                </p:grpSpPr>
                <p:sp>
                  <p:nvSpPr>
                    <p:cNvPr id="1105" name="Shape 110">
                      <a:extLst>
                        <a:ext uri="{FF2B5EF4-FFF2-40B4-BE49-F238E27FC236}">
                          <a16:creationId xmlns:a16="http://schemas.microsoft.com/office/drawing/2014/main" id="{52F8B1D1-0F24-C5F1-D119-178D7291F8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2950" y="2909144"/>
                      <a:ext cx="2029968" cy="1057656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0">
                      <a:solidFill>
                        <a:srgbClr val="D1D5DB"/>
                      </a:solidFill>
                      <a:prstDash val="solid"/>
                    </a:ln>
                    <a:effectLst>
                      <a:outerShdw blurRad="63500" dist="25400" dir="8100000" algn="bl" rotWithShape="0">
                        <a:srgbClr val="000000">
                          <a:alpha val="8000"/>
                        </a:srgbClr>
                      </a:outerShdw>
                    </a:effectLst>
                  </p:spPr>
                </p:sp>
                <p:sp>
                  <p:nvSpPr>
                    <p:cNvPr id="1106" name="Shape 111">
                      <a:extLst>
                        <a:ext uri="{FF2B5EF4-FFF2-40B4-BE49-F238E27FC236}">
                          <a16:creationId xmlns:a16="http://schemas.microsoft.com/office/drawing/2014/main" id="{10CEDDE4-4A22-09BC-E7F2-6981934BD7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8178" y="2912364"/>
                      <a:ext cx="54864" cy="10576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/>
                  </p:spPr>
                </p:sp>
              </p:grpSp>
              <p:grpSp>
                <p:nvGrpSpPr>
                  <p:cNvPr id="1059" name="Group 1058">
                    <a:extLst>
                      <a:ext uri="{FF2B5EF4-FFF2-40B4-BE49-F238E27FC236}">
                        <a16:creationId xmlns:a16="http://schemas.microsoft.com/office/drawing/2014/main" id="{07D48435-8D72-8A7E-2B94-2B68012845AE}"/>
                      </a:ext>
                    </a:extLst>
                  </p:cNvPr>
                  <p:cNvGrpSpPr/>
                  <p:nvPr/>
                </p:nvGrpSpPr>
                <p:grpSpPr>
                  <a:xfrm>
                    <a:off x="7201706" y="3956302"/>
                    <a:ext cx="1445677" cy="975650"/>
                    <a:chOff x="9671710" y="3753970"/>
                    <a:chExt cx="2018000" cy="1951300"/>
                  </a:xfrm>
                </p:grpSpPr>
                <p:sp>
                  <p:nvSpPr>
                    <p:cNvPr id="1094" name="Shape 110">
                      <a:extLst>
                        <a:ext uri="{FF2B5EF4-FFF2-40B4-BE49-F238E27FC236}">
                          <a16:creationId xmlns:a16="http://schemas.microsoft.com/office/drawing/2014/main" id="{6D50D625-BE3B-75E6-C253-1F2ADCD52B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1710" y="4803684"/>
                      <a:ext cx="1992810" cy="89306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0">
                      <a:solidFill>
                        <a:srgbClr val="D1D5DB"/>
                      </a:solidFill>
                      <a:prstDash val="solid"/>
                    </a:ln>
                    <a:effectLst>
                      <a:outerShdw blurRad="63500" dist="25400" dir="8100000" algn="bl" rotWithShape="0">
                        <a:srgbClr val="000000">
                          <a:alpha val="8000"/>
                        </a:srgbClr>
                      </a:outerShdw>
                    </a:effectLst>
                  </p:spPr>
                  <p:txBody>
                    <a:bodyPr/>
                    <a:lstStyle/>
                    <a:p>
                      <a:endParaRPr lang="en-US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p:txBody>
                </p:sp>
                <p:sp>
                  <p:nvSpPr>
                    <p:cNvPr id="1100" name="Shape 111">
                      <a:extLst>
                        <a:ext uri="{FF2B5EF4-FFF2-40B4-BE49-F238E27FC236}">
                          <a16:creationId xmlns:a16="http://schemas.microsoft.com/office/drawing/2014/main" id="{B11F2922-BEE1-D95D-07D9-2CE360FE47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4494" y="4820788"/>
                      <a:ext cx="63819" cy="884482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/>
                  </p:spPr>
                </p:sp>
                <p:sp>
                  <p:nvSpPr>
                    <p:cNvPr id="1102" name="Shape 110">
                      <a:extLst>
                        <a:ext uri="{FF2B5EF4-FFF2-40B4-BE49-F238E27FC236}">
                          <a16:creationId xmlns:a16="http://schemas.microsoft.com/office/drawing/2014/main" id="{01B7DD45-9642-2F60-EDBA-661560B10C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92031" y="3753970"/>
                      <a:ext cx="1897679" cy="893062"/>
                    </a:xfrm>
                    <a:prstGeom prst="rect">
                      <a:avLst/>
                    </a:prstGeom>
                    <a:solidFill>
                      <a:srgbClr val="FEF2F2"/>
                    </a:solidFill>
                    <a:ln w="12700">
                      <a:solidFill>
                        <a:srgbClr val="D1D5DB"/>
                      </a:solidFill>
                      <a:prstDash val="solid"/>
                    </a:ln>
                    <a:effectLst>
                      <a:outerShdw blurRad="63500" dist="25400" dir="8100000" algn="bl" rotWithShape="0">
                        <a:srgbClr val="000000">
                          <a:alpha val="8000"/>
                        </a:srgbClr>
                      </a:outerShdw>
                    </a:effectLst>
                  </p:spPr>
                  <p:txBody>
                    <a:bodyPr/>
                    <a:lstStyle/>
                    <a:p>
                      <a:endParaRPr lang="en-US">
                        <a:latin typeface="Biome" panose="020B0503030204020804" pitchFamily="34" charset="0"/>
                        <a:cs typeface="Biome" panose="020B0503030204020804" pitchFamily="34" charset="0"/>
                      </a:endParaRPr>
                    </a:p>
                  </p:txBody>
                </p:sp>
              </p:grpSp>
              <p:sp>
                <p:nvSpPr>
                  <p:cNvPr id="1087" name="Text 112">
                    <a:extLst>
                      <a:ext uri="{FF2B5EF4-FFF2-40B4-BE49-F238E27FC236}">
                        <a16:creationId xmlns:a16="http://schemas.microsoft.com/office/drawing/2014/main" id="{B6AC6C52-600F-4248-3769-357839070350}"/>
                      </a:ext>
                    </a:extLst>
                  </p:cNvPr>
                  <p:cNvSpPr/>
                  <p:nvPr/>
                </p:nvSpPr>
                <p:spPr>
                  <a:xfrm>
                    <a:off x="7304596" y="2858375"/>
                    <a:ext cx="1350264" cy="518335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Queries 6-month rolling</a:t>
                    </a:r>
                    <a:endParaRPr kumimoji="0" lang="en-US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74151"/>
                        </a:solidFill>
                        <a:effectLst/>
                        <a:uLnTx/>
                        <a:uFillTx/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offender history</a:t>
                    </a:r>
                    <a:endParaRPr kumimoji="0" lang="en-US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088" name="Text 112">
                    <a:extLst>
                      <a:ext uri="{FF2B5EF4-FFF2-40B4-BE49-F238E27FC236}">
                        <a16:creationId xmlns:a16="http://schemas.microsoft.com/office/drawing/2014/main" id="{307F04E3-8D41-33AA-E80F-669871EF37A5}"/>
                      </a:ext>
                    </a:extLst>
                  </p:cNvPr>
                  <p:cNvSpPr/>
                  <p:nvPr/>
                </p:nvSpPr>
                <p:spPr>
                  <a:xfrm>
                    <a:off x="7303751" y="4533708"/>
                    <a:ext cx="1459941" cy="35809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800">
                        <a:solidFill>
                          <a:srgbClr val="374151"/>
                        </a:solidFill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Maps offence to Penalty</a:t>
                    </a:r>
                    <a:endParaRPr lang="en-US" sz="800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  <a:p>
                    <a:r>
                      <a:rPr lang="en-US" sz="800">
                        <a:solidFill>
                          <a:srgbClr val="374151"/>
                        </a:solidFill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Matrix → Recommended</a:t>
                    </a:r>
                    <a:endParaRPr lang="en-US" sz="800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  <a:p>
                    <a:r>
                      <a:rPr lang="en-US" sz="800">
                        <a:solidFill>
                          <a:srgbClr val="374151"/>
                        </a:solidFill>
                        <a:latin typeface="Biome" panose="020B0503030204020804" pitchFamily="34" charset="0"/>
                        <a:ea typeface="Arial" pitchFamily="34" charset="-122"/>
                        <a:cs typeface="Biome" panose="020B0503030204020804" pitchFamily="34" charset="0"/>
                      </a:rPr>
                      <a:t>action generated</a:t>
                    </a:r>
                    <a:endParaRPr lang="en-US" sz="800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</p:grpSp>
            <p:sp>
              <p:nvSpPr>
                <p:cNvPr id="1049" name="Shape 111">
                  <a:extLst>
                    <a:ext uri="{FF2B5EF4-FFF2-40B4-BE49-F238E27FC236}">
                      <a16:creationId xmlns:a16="http://schemas.microsoft.com/office/drawing/2014/main" id="{B708E4F3-B747-8880-C19D-0EB92B0C05BA}"/>
                    </a:ext>
                  </a:extLst>
                </p:cNvPr>
                <p:cNvSpPr/>
                <p:nvPr/>
              </p:nvSpPr>
              <p:spPr>
                <a:xfrm>
                  <a:off x="5583290" y="3963667"/>
                  <a:ext cx="45719" cy="43180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</p:sp>
            <p:sp>
              <p:nvSpPr>
                <p:cNvPr id="1050" name="Text 100">
                  <a:extLst>
                    <a:ext uri="{FF2B5EF4-FFF2-40B4-BE49-F238E27FC236}">
                      <a16:creationId xmlns:a16="http://schemas.microsoft.com/office/drawing/2014/main" id="{B96F62F9-2AEE-5341-9E49-52D0600CBFCB}"/>
                    </a:ext>
                  </a:extLst>
                </p:cNvPr>
                <p:cNvSpPr/>
                <p:nvPr/>
              </p:nvSpPr>
              <p:spPr>
                <a:xfrm>
                  <a:off x="5675095" y="4036051"/>
                  <a:ext cx="1411542" cy="29622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0392B"/>
                      </a:solidFill>
                      <a:effectLst/>
                      <a:uLnTx/>
                      <a:uFillTx/>
                      <a:latin typeface="Biome" panose="020B0503030204020804" pitchFamily="34" charset="0"/>
                      <a:ea typeface="Arial" pitchFamily="34" charset="-122"/>
                      <a:cs typeface="Biome" panose="020B0503030204020804" pitchFamily="34" charset="0"/>
                    </a:rPr>
                    <a:t>YES → Auto-upgrade</a:t>
                  </a:r>
                  <a:endParaRPr kumimoji="0" lang="en-US" sz="8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0392B"/>
                      </a:solidFill>
                      <a:effectLst/>
                      <a:uLnTx/>
                      <a:uFillTx/>
                      <a:latin typeface="Biome" panose="020B0503030204020804" pitchFamily="34" charset="0"/>
                      <a:ea typeface="Arial" pitchFamily="34" charset="-122"/>
                      <a:cs typeface="Biome" panose="020B0503030204020804" pitchFamily="34" charset="0"/>
                    </a:rPr>
                    <a:t>case to Tier 2</a:t>
                  </a:r>
                  <a:endParaRPr kumimoji="0" lang="en-US" sz="8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</p:txBody>
            </p:sp>
          </p:grpSp>
          <p:sp>
            <p:nvSpPr>
              <p:cNvPr id="1038" name="Text 93">
                <a:extLst>
                  <a:ext uri="{FF2B5EF4-FFF2-40B4-BE49-F238E27FC236}">
                    <a16:creationId xmlns:a16="http://schemas.microsoft.com/office/drawing/2014/main" id="{C4DDC8AE-BA01-BA8B-4D3D-08F95246DECF}"/>
                  </a:ext>
                </a:extLst>
              </p:cNvPr>
              <p:cNvSpPr/>
              <p:nvPr/>
            </p:nvSpPr>
            <p:spPr>
              <a:xfrm>
                <a:off x="5394495" y="3680525"/>
                <a:ext cx="1616630" cy="2987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700" b="1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Repeat Tier 1</a:t>
                </a:r>
                <a:endParaRPr lang="en-US" sz="700" b="1">
                  <a:latin typeface="Biome" panose="020B0503030204020804" pitchFamily="34" charset="0"/>
                  <a:cs typeface="Biome" panose="020B0503030204020804" pitchFamily="34" charset="0"/>
                </a:endParaRPr>
              </a:p>
              <a:p>
                <a:pPr algn="ctr"/>
                <a:r>
                  <a:rPr lang="en-US" sz="700" b="1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offence detected?</a:t>
                </a:r>
                <a:endParaRPr lang="en-US" sz="700" b="1">
                  <a:latin typeface="Biome" panose="020B0503030204020804" pitchFamily="34" charset="0"/>
                  <a:cs typeface="Biome" panose="020B0503030204020804" pitchFamily="34" charset="0"/>
                </a:endParaRPr>
              </a:p>
            </p:txBody>
          </p:sp>
          <p:grpSp>
            <p:nvGrpSpPr>
              <p:cNvPr id="1039" name="Group 1038">
                <a:extLst>
                  <a:ext uri="{FF2B5EF4-FFF2-40B4-BE49-F238E27FC236}">
                    <a16:creationId xmlns:a16="http://schemas.microsoft.com/office/drawing/2014/main" id="{4573A9D8-6E06-2E37-A8BB-91D272187378}"/>
                  </a:ext>
                </a:extLst>
              </p:cNvPr>
              <p:cNvGrpSpPr/>
              <p:nvPr/>
            </p:nvGrpSpPr>
            <p:grpSpPr>
              <a:xfrm>
                <a:off x="5544237" y="3490146"/>
                <a:ext cx="1388766" cy="193923"/>
                <a:chOff x="5564036" y="3497440"/>
                <a:chExt cx="1388766" cy="193923"/>
              </a:xfrm>
            </p:grpSpPr>
            <p:grpSp>
              <p:nvGrpSpPr>
                <p:cNvPr id="1040" name="Group 1039">
                  <a:extLst>
                    <a:ext uri="{FF2B5EF4-FFF2-40B4-BE49-F238E27FC236}">
                      <a16:creationId xmlns:a16="http://schemas.microsoft.com/office/drawing/2014/main" id="{F912D946-B26E-676B-1499-5466B60506DF}"/>
                    </a:ext>
                  </a:extLst>
                </p:cNvPr>
                <p:cNvGrpSpPr/>
                <p:nvPr/>
              </p:nvGrpSpPr>
              <p:grpSpPr>
                <a:xfrm>
                  <a:off x="5564036" y="3505255"/>
                  <a:ext cx="1388766" cy="186108"/>
                  <a:chOff x="4866187" y="5479792"/>
                  <a:chExt cx="1340816" cy="176459"/>
                </a:xfrm>
              </p:grpSpPr>
              <p:sp>
                <p:nvSpPr>
                  <p:cNvPr id="1043" name="Shape 91">
                    <a:extLst>
                      <a:ext uri="{FF2B5EF4-FFF2-40B4-BE49-F238E27FC236}">
                        <a16:creationId xmlns:a16="http://schemas.microsoft.com/office/drawing/2014/main" id="{60FB7616-A52B-C6C3-975F-EB983BE9780A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5424019" y="5479498"/>
                    <a:ext cx="170330" cy="170918"/>
                  </a:xfrm>
                  <a:prstGeom prst="rect">
                    <a:avLst/>
                  </a:prstGeom>
                  <a:solidFill>
                    <a:srgbClr val="4B5563"/>
                  </a:solidFill>
                  <a:ln/>
                </p:spPr>
                <p:txBody>
                  <a:bodyPr/>
                  <a:lstStyle/>
                  <a:p>
                    <a:endParaRPr lang="en-US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044" name="Shape 92">
                    <a:extLst>
                      <a:ext uri="{FF2B5EF4-FFF2-40B4-BE49-F238E27FC236}">
                        <a16:creationId xmlns:a16="http://schemas.microsoft.com/office/drawing/2014/main" id="{3FF36D62-D255-91A0-C1B6-16B9482DD6B1}"/>
                      </a:ext>
                    </a:extLst>
                  </p:cNvPr>
                  <p:cNvSpPr/>
                  <p:nvPr/>
                </p:nvSpPr>
                <p:spPr>
                  <a:xfrm flipV="1">
                    <a:off x="4866187" y="5536524"/>
                    <a:ext cx="1340816" cy="43349"/>
                  </a:xfrm>
                  <a:prstGeom prst="rect">
                    <a:avLst/>
                  </a:prstGeom>
                  <a:solidFill>
                    <a:srgbClr val="000000"/>
                  </a:solidFill>
                  <a:ln/>
                </p:spPr>
                <p:txBody>
                  <a:bodyPr/>
                  <a:lstStyle/>
                  <a:p>
                    <a:endParaRPr lang="en-US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045" name="Shape 94">
                    <a:extLst>
                      <a:ext uri="{FF2B5EF4-FFF2-40B4-BE49-F238E27FC236}">
                        <a16:creationId xmlns:a16="http://schemas.microsoft.com/office/drawing/2014/main" id="{13B902FB-F0AB-1713-D133-2694DE2C55E6}"/>
                      </a:ext>
                    </a:extLst>
                  </p:cNvPr>
                  <p:cNvSpPr/>
                  <p:nvPr/>
                </p:nvSpPr>
                <p:spPr>
                  <a:xfrm>
                    <a:off x="5606094" y="5485202"/>
                    <a:ext cx="197500" cy="167450"/>
                  </a:xfrm>
                  <a:prstGeom prst="rect">
                    <a:avLst/>
                  </a:prstGeom>
                  <a:solidFill>
                    <a:srgbClr val="16A34A"/>
                  </a:solidFill>
                  <a:ln/>
                </p:spPr>
                <p:txBody>
                  <a:bodyPr/>
                  <a:lstStyle/>
                  <a:p>
                    <a:endParaRPr lang="en-US">
                      <a:latin typeface="Biome" panose="020B0503030204020804" pitchFamily="34" charset="0"/>
                      <a:cs typeface="Biome" panose="020B0503030204020804" pitchFamily="34" charset="0"/>
                    </a:endParaRPr>
                  </a:p>
                </p:txBody>
              </p:sp>
              <p:sp>
                <p:nvSpPr>
                  <p:cNvPr id="1046" name="Shape 96">
                    <a:extLst>
                      <a:ext uri="{FF2B5EF4-FFF2-40B4-BE49-F238E27FC236}">
                        <a16:creationId xmlns:a16="http://schemas.microsoft.com/office/drawing/2014/main" id="{CF99F3DA-DCD6-0166-1A7E-8F44106E6186}"/>
                      </a:ext>
                    </a:extLst>
                  </p:cNvPr>
                  <p:cNvSpPr/>
                  <p:nvPr/>
                </p:nvSpPr>
                <p:spPr>
                  <a:xfrm>
                    <a:off x="5227199" y="5485202"/>
                    <a:ext cx="186841" cy="171049"/>
                  </a:xfrm>
                  <a:prstGeom prst="rect">
                    <a:avLst/>
                  </a:prstGeom>
                  <a:solidFill>
                    <a:srgbClr val="C0392B"/>
                  </a:solidFill>
                  <a:ln/>
                </p:spPr>
              </p:sp>
            </p:grpSp>
            <p:sp>
              <p:nvSpPr>
                <p:cNvPr id="1041" name="Text 95">
                  <a:extLst>
                    <a:ext uri="{FF2B5EF4-FFF2-40B4-BE49-F238E27FC236}">
                      <a16:creationId xmlns:a16="http://schemas.microsoft.com/office/drawing/2014/main" id="{1815E1F0-CE8B-93C9-BDF8-12682373CD85}"/>
                    </a:ext>
                  </a:extLst>
                </p:cNvPr>
                <p:cNvSpPr/>
                <p:nvPr/>
              </p:nvSpPr>
              <p:spPr>
                <a:xfrm>
                  <a:off x="6291840" y="3503520"/>
                  <a:ext cx="292608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00" b="1">
                      <a:solidFill>
                        <a:srgbClr val="FFFFFF"/>
                      </a:solidFill>
                      <a:latin typeface="Biome" panose="020B0503030204020804" pitchFamily="34" charset="0"/>
                      <a:ea typeface="Arial" pitchFamily="34" charset="-122"/>
                      <a:cs typeface="Biome" panose="020B0503030204020804" pitchFamily="34" charset="0"/>
                    </a:rPr>
                    <a:t>YES</a:t>
                  </a:r>
                  <a:endParaRPr lang="en-US" sz="700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</p:txBody>
            </p:sp>
            <p:sp>
              <p:nvSpPr>
                <p:cNvPr id="1042" name="Text 95">
                  <a:extLst>
                    <a:ext uri="{FF2B5EF4-FFF2-40B4-BE49-F238E27FC236}">
                      <a16:creationId xmlns:a16="http://schemas.microsoft.com/office/drawing/2014/main" id="{C1785BEB-E41A-448C-EB36-EE30081D5F10}"/>
                    </a:ext>
                  </a:extLst>
                </p:cNvPr>
                <p:cNvSpPr/>
                <p:nvPr/>
              </p:nvSpPr>
              <p:spPr>
                <a:xfrm>
                  <a:off x="5905849" y="3497440"/>
                  <a:ext cx="257741" cy="1859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600" b="1">
                      <a:solidFill>
                        <a:srgbClr val="FFFFFF"/>
                      </a:solidFill>
                      <a:latin typeface="Biome" panose="020B0503030204020804" pitchFamily="34" charset="0"/>
                      <a:ea typeface="Arial" pitchFamily="34" charset="-122"/>
                      <a:cs typeface="Biome" panose="020B0503030204020804" pitchFamily="34" charset="0"/>
                    </a:rPr>
                    <a:t>NO</a:t>
                  </a:r>
                  <a:endParaRPr lang="en-US" sz="700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</p:txBody>
            </p:sp>
          </p:grpSp>
        </p:grpSp>
        <p:grpSp>
          <p:nvGrpSpPr>
            <p:cNvPr id="1184" name="Group 1183">
              <a:extLst>
                <a:ext uri="{FF2B5EF4-FFF2-40B4-BE49-F238E27FC236}">
                  <a16:creationId xmlns:a16="http://schemas.microsoft.com/office/drawing/2014/main" id="{DAF7AF4A-813F-FA4B-6F61-A2D500222D88}"/>
                </a:ext>
              </a:extLst>
            </p:cNvPr>
            <p:cNvGrpSpPr/>
            <p:nvPr/>
          </p:nvGrpSpPr>
          <p:grpSpPr>
            <a:xfrm>
              <a:off x="326812" y="1079405"/>
              <a:ext cx="1761346" cy="3766678"/>
              <a:chOff x="7119993" y="1088136"/>
              <a:chExt cx="1761346" cy="3766678"/>
            </a:xfrm>
            <a:effectLst/>
          </p:grpSpPr>
          <p:sp>
            <p:nvSpPr>
              <p:cNvPr id="1185" name="Shape 108">
                <a:extLst>
                  <a:ext uri="{FF2B5EF4-FFF2-40B4-BE49-F238E27FC236}">
                    <a16:creationId xmlns:a16="http://schemas.microsoft.com/office/drawing/2014/main" id="{2AE45E46-6F05-F735-CF5D-7B2BD62EAA0C}"/>
                  </a:ext>
                </a:extLst>
              </p:cNvPr>
              <p:cNvSpPr/>
              <p:nvPr/>
            </p:nvSpPr>
            <p:spPr>
              <a:xfrm>
                <a:off x="7119993" y="2468880"/>
                <a:ext cx="52166" cy="361950"/>
              </a:xfrm>
              <a:prstGeom prst="rect">
                <a:avLst/>
              </a:prstGeom>
              <a:solidFill>
                <a:srgbClr val="1B3A6B"/>
              </a:solidFill>
              <a:ln/>
            </p:spPr>
          </p:sp>
          <p:sp>
            <p:nvSpPr>
              <p:cNvPr id="1186" name="Text 109">
                <a:extLst>
                  <a:ext uri="{FF2B5EF4-FFF2-40B4-BE49-F238E27FC236}">
                    <a16:creationId xmlns:a16="http://schemas.microsoft.com/office/drawing/2014/main" id="{75CD1149-0602-C98E-2FD0-A3A335ADDC10}"/>
                  </a:ext>
                </a:extLst>
              </p:cNvPr>
              <p:cNvSpPr/>
              <p:nvPr/>
            </p:nvSpPr>
            <p:spPr>
              <a:xfrm>
                <a:off x="7202589" y="2433955"/>
                <a:ext cx="1484392" cy="431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1" u="none" strike="noStrike" kern="1200" cap="none" spc="0" normalizeH="0" baseline="0" noProof="0">
                    <a:ln>
                      <a:noFill/>
                    </a:ln>
                    <a:solidFill>
                      <a:srgbClr val="374151"/>
                    </a:solidFill>
                    <a:effectLst/>
                    <a:uLnTx/>
                    <a:uFillTx/>
                    <a:latin typeface="Biome"/>
                    <a:ea typeface="Arial" pitchFamily="34" charset="-122"/>
                    <a:cs typeface="Biome"/>
                  </a:rPr>
                  <a:t>Actor: </a:t>
                </a:r>
                <a:r>
                  <a:rPr lang="en-US" sz="700" i="1">
                    <a:solidFill>
                      <a:srgbClr val="374151"/>
                    </a:solidFill>
                    <a:latin typeface="Biome"/>
                    <a:ea typeface="Arial" pitchFamily="34" charset="-122"/>
                    <a:cs typeface="Biome"/>
                  </a:rPr>
                  <a:t>Admin</a:t>
                </a:r>
                <a:r>
                  <a:rPr kumimoji="0" lang="en-US" sz="700" b="0" i="1" u="none" strike="noStrike" kern="1200" cap="none" spc="0" normalizeH="0" baseline="0" noProof="0">
                    <a:ln>
                      <a:noFill/>
                    </a:ln>
                    <a:solidFill>
                      <a:srgbClr val="374151"/>
                    </a:solidFill>
                    <a:effectLst/>
                    <a:uLnTx/>
                    <a:uFillTx/>
                    <a:latin typeface="Biome"/>
                    <a:ea typeface="Arial" pitchFamily="34" charset="-122"/>
                    <a:cs typeface="Biome"/>
                  </a:rPr>
                  <a:t> / </a:t>
                </a:r>
                <a:r>
                  <a:rPr kumimoji="0" lang="en-US" sz="7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374151"/>
                    </a:solidFill>
                    <a:effectLst/>
                    <a:uLnTx/>
                    <a:uFillTx/>
                    <a:latin typeface="Biome"/>
                    <a:ea typeface="Arial" pitchFamily="34" charset="-122"/>
                    <a:cs typeface="Biome"/>
                  </a:rPr>
                  <a:t>Authorised</a:t>
                </a:r>
                <a:r>
                  <a:rPr kumimoji="0" lang="en-US" sz="700" b="0" i="1" u="none" strike="noStrike" kern="1200" cap="none" spc="0" normalizeH="0" baseline="0" noProof="0">
                    <a:ln>
                      <a:noFill/>
                    </a:ln>
                    <a:solidFill>
                      <a:srgbClr val="374151"/>
                    </a:solidFill>
                    <a:effectLst/>
                    <a:uLnTx/>
                    <a:uFillTx/>
                    <a:latin typeface="Biome"/>
                    <a:ea typeface="Arial" pitchFamily="34" charset="-122"/>
                    <a:cs typeface="Biome"/>
                  </a:rPr>
                  <a:t> Dept. Head</a:t>
                </a:r>
                <a:endPara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iome"/>
                  <a:cs typeface="Biome"/>
                </a:endParaRPr>
              </a:p>
            </p:txBody>
          </p:sp>
          <p:sp>
            <p:nvSpPr>
              <p:cNvPr id="1187" name="Shape 102">
                <a:extLst>
                  <a:ext uri="{FF2B5EF4-FFF2-40B4-BE49-F238E27FC236}">
                    <a16:creationId xmlns:a16="http://schemas.microsoft.com/office/drawing/2014/main" id="{96D06834-A594-BA31-E468-2B1BAE9318DE}"/>
                  </a:ext>
                </a:extLst>
              </p:cNvPr>
              <p:cNvSpPr/>
              <p:nvPr/>
            </p:nvSpPr>
            <p:spPr>
              <a:xfrm>
                <a:off x="7119993" y="1088136"/>
                <a:ext cx="1597419" cy="1380744"/>
              </a:xfrm>
              <a:prstGeom prst="rect">
                <a:avLst/>
              </a:prstGeom>
              <a:solidFill>
                <a:srgbClr val="1B3A6B"/>
              </a:solidFill>
              <a:ln/>
            </p:spPr>
            <p:txBody>
              <a:bodyPr/>
              <a:lstStyle/>
              <a:p>
                <a:endParaRPr lang="en-NG">
                  <a:latin typeface="Biome" panose="020B0503030204020804" pitchFamily="34" charset="0"/>
                  <a:cs typeface="Biome" panose="020B0503030204020804" pitchFamily="34" charset="0"/>
                </a:endParaRPr>
              </a:p>
            </p:txBody>
          </p:sp>
          <p:sp>
            <p:nvSpPr>
              <p:cNvPr id="1189" name="Text 106">
                <a:extLst>
                  <a:ext uri="{FF2B5EF4-FFF2-40B4-BE49-F238E27FC236}">
                    <a16:creationId xmlns:a16="http://schemas.microsoft.com/office/drawing/2014/main" id="{80D7C59D-166F-CE88-7CE6-2969E0550100}"/>
                  </a:ext>
                </a:extLst>
              </p:cNvPr>
              <p:cNvSpPr/>
              <p:nvPr/>
            </p:nvSpPr>
            <p:spPr>
              <a:xfrm>
                <a:off x="7186844" y="1437366"/>
                <a:ext cx="1484392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>
                    <a:solidFill>
                      <a:srgbClr val="FFFFFF"/>
                    </a:solidFill>
                    <a:latin typeface="Biome" panose="020B0503030204020804" pitchFamily="34" charset="0"/>
                    <a:ea typeface="Arial Black" pitchFamily="34" charset="-122"/>
                    <a:cs typeface="Biome" panose="020B0503030204020804" pitchFamily="34" charset="0"/>
                  </a:rPr>
                  <a:t>EXECUTIVE</a:t>
                </a:r>
                <a:endParaRPr lang="en-US" sz="1000">
                  <a:latin typeface="Biome" panose="020B0503030204020804" pitchFamily="34" charset="0"/>
                  <a:cs typeface="Biome" panose="020B0503030204020804" pitchFamily="34" charset="0"/>
                </a:endParaRPr>
              </a:p>
              <a:p>
                <a:pPr marL="0" indent="0" algn="ctr">
                  <a:buNone/>
                </a:pPr>
                <a:r>
                  <a:rPr lang="en-US" sz="1000" b="1">
                    <a:solidFill>
                      <a:srgbClr val="FFFFFF"/>
                    </a:solidFill>
                    <a:latin typeface="Biome" panose="020B0503030204020804" pitchFamily="34" charset="0"/>
                    <a:ea typeface="Arial Black" pitchFamily="34" charset="-122"/>
                    <a:cs typeface="Biome" panose="020B0503030204020804" pitchFamily="34" charset="0"/>
                  </a:rPr>
                  <a:t>INTELLIGENCE</a:t>
                </a:r>
                <a:endParaRPr lang="en-US" sz="1000">
                  <a:latin typeface="Biome" panose="020B0503030204020804" pitchFamily="34" charset="0"/>
                  <a:cs typeface="Biome" panose="020B0503030204020804" pitchFamily="34" charset="0"/>
                </a:endParaRPr>
              </a:p>
            </p:txBody>
          </p:sp>
          <p:sp>
            <p:nvSpPr>
              <p:cNvPr id="1190" name="Shape 128">
                <a:extLst>
                  <a:ext uri="{FF2B5EF4-FFF2-40B4-BE49-F238E27FC236}">
                    <a16:creationId xmlns:a16="http://schemas.microsoft.com/office/drawing/2014/main" id="{4544B793-FCD7-CEF9-B1CE-2085F9648994}"/>
                  </a:ext>
                </a:extLst>
              </p:cNvPr>
              <p:cNvSpPr/>
              <p:nvPr/>
            </p:nvSpPr>
            <p:spPr>
              <a:xfrm rot="2700000">
                <a:off x="7155785" y="1708954"/>
                <a:ext cx="91440" cy="139110"/>
              </a:xfrm>
              <a:prstGeom prst="rect">
                <a:avLst/>
              </a:prstGeom>
              <a:solidFill>
                <a:srgbClr val="FFFFFF"/>
              </a:solidFill>
              <a:ln/>
            </p:spPr>
          </p:sp>
          <p:grpSp>
            <p:nvGrpSpPr>
              <p:cNvPr id="1191" name="Group 1190">
                <a:extLst>
                  <a:ext uri="{FF2B5EF4-FFF2-40B4-BE49-F238E27FC236}">
                    <a16:creationId xmlns:a16="http://schemas.microsoft.com/office/drawing/2014/main" id="{04EBA8E9-9417-02B5-5179-2B6A55EADE56}"/>
                  </a:ext>
                </a:extLst>
              </p:cNvPr>
              <p:cNvGrpSpPr/>
              <p:nvPr/>
            </p:nvGrpSpPr>
            <p:grpSpPr>
              <a:xfrm>
                <a:off x="7210144" y="1121028"/>
                <a:ext cx="237744" cy="268414"/>
                <a:chOff x="7210144" y="1184937"/>
                <a:chExt cx="237744" cy="268414"/>
              </a:xfrm>
            </p:grpSpPr>
            <p:sp>
              <p:nvSpPr>
                <p:cNvPr id="1206" name="Shape 103">
                  <a:extLst>
                    <a:ext uri="{FF2B5EF4-FFF2-40B4-BE49-F238E27FC236}">
                      <a16:creationId xmlns:a16="http://schemas.microsoft.com/office/drawing/2014/main" id="{321EE747-7FF3-816A-9BB5-FF91289DCFEC}"/>
                    </a:ext>
                  </a:extLst>
                </p:cNvPr>
                <p:cNvSpPr/>
                <p:nvPr/>
              </p:nvSpPr>
              <p:spPr>
                <a:xfrm>
                  <a:off x="7210144" y="1203694"/>
                  <a:ext cx="237744" cy="230901"/>
                </a:xfrm>
                <a:prstGeom prst="ellipse">
                  <a:avLst/>
                </a:prstGeom>
                <a:solidFill>
                  <a:srgbClr val="FFFFFF"/>
                </a:solidFill>
                <a:ln/>
              </p:spPr>
            </p:sp>
            <p:sp>
              <p:nvSpPr>
                <p:cNvPr id="1207" name="Text 104">
                  <a:extLst>
                    <a:ext uri="{FF2B5EF4-FFF2-40B4-BE49-F238E27FC236}">
                      <a16:creationId xmlns:a16="http://schemas.microsoft.com/office/drawing/2014/main" id="{D39C4CA0-F9BA-C360-3022-77FD8BF498C3}"/>
                    </a:ext>
                  </a:extLst>
                </p:cNvPr>
                <p:cNvSpPr/>
                <p:nvPr/>
              </p:nvSpPr>
              <p:spPr>
                <a:xfrm>
                  <a:off x="7216986" y="1184937"/>
                  <a:ext cx="230902" cy="26841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>
                      <a:solidFill>
                        <a:srgbClr val="1B3A6B"/>
                      </a:solidFill>
                      <a:latin typeface="Biome" panose="020B0503030204020804" pitchFamily="34" charset="0"/>
                      <a:ea typeface="Arial Black" pitchFamily="34" charset="-122"/>
                      <a:cs typeface="Biome" panose="020B0503030204020804" pitchFamily="34" charset="0"/>
                    </a:rPr>
                    <a:t>01</a:t>
                  </a:r>
                  <a:endParaRPr lang="en-US" sz="1100">
                    <a:latin typeface="Biome" panose="020B0503030204020804" pitchFamily="34" charset="0"/>
                    <a:cs typeface="Biome" panose="020B0503030204020804" pitchFamily="34" charset="0"/>
                  </a:endParaRPr>
                </a:p>
              </p:txBody>
            </p:sp>
          </p:grpSp>
          <p:grpSp>
            <p:nvGrpSpPr>
              <p:cNvPr id="1192" name="Group 1191">
                <a:extLst>
                  <a:ext uri="{FF2B5EF4-FFF2-40B4-BE49-F238E27FC236}">
                    <a16:creationId xmlns:a16="http://schemas.microsoft.com/office/drawing/2014/main" id="{D4709629-96E1-CE8A-96BD-A3BF765E4366}"/>
                  </a:ext>
                </a:extLst>
              </p:cNvPr>
              <p:cNvGrpSpPr/>
              <p:nvPr/>
            </p:nvGrpSpPr>
            <p:grpSpPr>
              <a:xfrm>
                <a:off x="7210144" y="2950752"/>
                <a:ext cx="1454250" cy="528828"/>
                <a:chOff x="9683496" y="3118104"/>
                <a:chExt cx="2029968" cy="1057656"/>
              </a:xfrm>
            </p:grpSpPr>
            <p:sp>
              <p:nvSpPr>
                <p:cNvPr id="1204" name="Shape 110">
                  <a:extLst>
                    <a:ext uri="{FF2B5EF4-FFF2-40B4-BE49-F238E27FC236}">
                      <a16:creationId xmlns:a16="http://schemas.microsoft.com/office/drawing/2014/main" id="{AB8E808B-9972-3FA9-4EF2-75120A75C954}"/>
                    </a:ext>
                  </a:extLst>
                </p:cNvPr>
                <p:cNvSpPr/>
                <p:nvPr/>
              </p:nvSpPr>
              <p:spPr>
                <a:xfrm>
                  <a:off x="9683496" y="3118104"/>
                  <a:ext cx="2029968" cy="1057656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5DB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8000"/>
                    </a:srgbClr>
                  </a:outerShdw>
                </a:effectLst>
              </p:spPr>
            </p:sp>
            <p:sp>
              <p:nvSpPr>
                <p:cNvPr id="1205" name="Shape 111">
                  <a:extLst>
                    <a:ext uri="{FF2B5EF4-FFF2-40B4-BE49-F238E27FC236}">
                      <a16:creationId xmlns:a16="http://schemas.microsoft.com/office/drawing/2014/main" id="{78006160-E861-FD31-D797-09519FCAFA07}"/>
                    </a:ext>
                  </a:extLst>
                </p:cNvPr>
                <p:cNvSpPr/>
                <p:nvPr/>
              </p:nvSpPr>
              <p:spPr>
                <a:xfrm>
                  <a:off x="9683496" y="3118104"/>
                  <a:ext cx="54864" cy="1057656"/>
                </a:xfrm>
                <a:prstGeom prst="rect">
                  <a:avLst/>
                </a:prstGeom>
                <a:solidFill>
                  <a:srgbClr val="1B3A6B"/>
                </a:solidFill>
                <a:ln/>
              </p:spPr>
            </p:sp>
          </p:grpSp>
          <p:grpSp>
            <p:nvGrpSpPr>
              <p:cNvPr id="1193" name="Group 1192">
                <a:extLst>
                  <a:ext uri="{FF2B5EF4-FFF2-40B4-BE49-F238E27FC236}">
                    <a16:creationId xmlns:a16="http://schemas.microsoft.com/office/drawing/2014/main" id="{D4BE1BB9-11D9-5132-2DFA-6AEC37838B5B}"/>
                  </a:ext>
                </a:extLst>
              </p:cNvPr>
              <p:cNvGrpSpPr/>
              <p:nvPr/>
            </p:nvGrpSpPr>
            <p:grpSpPr>
              <a:xfrm>
                <a:off x="7210144" y="3638369"/>
                <a:ext cx="1454250" cy="528828"/>
                <a:chOff x="9683496" y="3118104"/>
                <a:chExt cx="2029968" cy="1057656"/>
              </a:xfrm>
            </p:grpSpPr>
            <p:sp>
              <p:nvSpPr>
                <p:cNvPr id="1202" name="Shape 110">
                  <a:extLst>
                    <a:ext uri="{FF2B5EF4-FFF2-40B4-BE49-F238E27FC236}">
                      <a16:creationId xmlns:a16="http://schemas.microsoft.com/office/drawing/2014/main" id="{0C58BC37-2D3B-2B96-49E2-E8BE793A06A7}"/>
                    </a:ext>
                  </a:extLst>
                </p:cNvPr>
                <p:cNvSpPr/>
                <p:nvPr/>
              </p:nvSpPr>
              <p:spPr>
                <a:xfrm>
                  <a:off x="9683496" y="3118104"/>
                  <a:ext cx="2029968" cy="1057656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5DB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8000"/>
                    </a:srgbClr>
                  </a:outerShdw>
                </a:effectLst>
              </p:spPr>
            </p:sp>
            <p:sp>
              <p:nvSpPr>
                <p:cNvPr id="1203" name="Shape 111">
                  <a:extLst>
                    <a:ext uri="{FF2B5EF4-FFF2-40B4-BE49-F238E27FC236}">
                      <a16:creationId xmlns:a16="http://schemas.microsoft.com/office/drawing/2014/main" id="{8128F7EC-085F-DEF5-09BF-CE1475FE0ABB}"/>
                    </a:ext>
                  </a:extLst>
                </p:cNvPr>
                <p:cNvSpPr/>
                <p:nvPr/>
              </p:nvSpPr>
              <p:spPr>
                <a:xfrm>
                  <a:off x="9683496" y="3118104"/>
                  <a:ext cx="54864" cy="1057656"/>
                </a:xfrm>
                <a:prstGeom prst="rect">
                  <a:avLst/>
                </a:prstGeom>
                <a:solidFill>
                  <a:srgbClr val="1B3A6B"/>
                </a:solidFill>
                <a:ln/>
              </p:spPr>
            </p:sp>
          </p:grpSp>
          <p:grpSp>
            <p:nvGrpSpPr>
              <p:cNvPr id="1194" name="Group 1193">
                <a:extLst>
                  <a:ext uri="{FF2B5EF4-FFF2-40B4-BE49-F238E27FC236}">
                    <a16:creationId xmlns:a16="http://schemas.microsoft.com/office/drawing/2014/main" id="{1384D82B-E0AC-B4C4-5D10-DD31725752FD}"/>
                  </a:ext>
                </a:extLst>
              </p:cNvPr>
              <p:cNvGrpSpPr/>
              <p:nvPr/>
            </p:nvGrpSpPr>
            <p:grpSpPr>
              <a:xfrm>
                <a:off x="7210144" y="4325986"/>
                <a:ext cx="1454250" cy="528828"/>
                <a:chOff x="9683496" y="3118104"/>
                <a:chExt cx="2029968" cy="1057656"/>
              </a:xfrm>
            </p:grpSpPr>
            <p:sp>
              <p:nvSpPr>
                <p:cNvPr id="1200" name="Shape 110">
                  <a:extLst>
                    <a:ext uri="{FF2B5EF4-FFF2-40B4-BE49-F238E27FC236}">
                      <a16:creationId xmlns:a16="http://schemas.microsoft.com/office/drawing/2014/main" id="{9B56A993-62D7-9F2F-C5BF-F622717D1AAB}"/>
                    </a:ext>
                  </a:extLst>
                </p:cNvPr>
                <p:cNvSpPr/>
                <p:nvPr/>
              </p:nvSpPr>
              <p:spPr>
                <a:xfrm>
                  <a:off x="9683496" y="3118104"/>
                  <a:ext cx="2029968" cy="1057656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D1D5DB"/>
                  </a:solidFill>
                  <a:prstDash val="solid"/>
                </a:ln>
                <a:effectLst>
                  <a:outerShdw blurRad="63500" dist="25400" dir="8100000" algn="bl" rotWithShape="0">
                    <a:srgbClr val="000000">
                      <a:alpha val="8000"/>
                    </a:srgbClr>
                  </a:outerShdw>
                </a:effectLst>
              </p:spPr>
            </p:sp>
            <p:sp>
              <p:nvSpPr>
                <p:cNvPr id="1201" name="Shape 111">
                  <a:extLst>
                    <a:ext uri="{FF2B5EF4-FFF2-40B4-BE49-F238E27FC236}">
                      <a16:creationId xmlns:a16="http://schemas.microsoft.com/office/drawing/2014/main" id="{1B8D36D1-0AE7-AB6D-B3E7-F013A0E4D62E}"/>
                    </a:ext>
                  </a:extLst>
                </p:cNvPr>
                <p:cNvSpPr/>
                <p:nvPr/>
              </p:nvSpPr>
              <p:spPr>
                <a:xfrm>
                  <a:off x="9683496" y="3118104"/>
                  <a:ext cx="54864" cy="1057656"/>
                </a:xfrm>
                <a:prstGeom prst="rect">
                  <a:avLst/>
                </a:prstGeom>
                <a:solidFill>
                  <a:srgbClr val="1B3A6B"/>
                </a:solidFill>
                <a:ln/>
              </p:spPr>
            </p:sp>
          </p:grpSp>
          <p:sp>
            <p:nvSpPr>
              <p:cNvPr id="1195" name="Shape 113">
                <a:extLst>
                  <a:ext uri="{FF2B5EF4-FFF2-40B4-BE49-F238E27FC236}">
                    <a16:creationId xmlns:a16="http://schemas.microsoft.com/office/drawing/2014/main" id="{BCC9C495-8AE6-12AC-03A5-474B2C3BC1E8}"/>
                  </a:ext>
                </a:extLst>
              </p:cNvPr>
              <p:cNvSpPr/>
              <p:nvPr/>
            </p:nvSpPr>
            <p:spPr>
              <a:xfrm>
                <a:off x="7963678" y="3479580"/>
                <a:ext cx="0" cy="158790"/>
              </a:xfrm>
              <a:prstGeom prst="line">
                <a:avLst/>
              </a:prstGeom>
              <a:noFill/>
              <a:ln w="15240">
                <a:solidFill>
                  <a:srgbClr val="64748B"/>
                </a:solidFill>
                <a:prstDash val="solid"/>
              </a:ln>
            </p:spPr>
          </p:sp>
          <p:sp>
            <p:nvSpPr>
              <p:cNvPr id="1196" name="Shape 113">
                <a:extLst>
                  <a:ext uri="{FF2B5EF4-FFF2-40B4-BE49-F238E27FC236}">
                    <a16:creationId xmlns:a16="http://schemas.microsoft.com/office/drawing/2014/main" id="{641A5A99-E7E7-D030-F1F6-EA0BB3E7D8FA}"/>
                  </a:ext>
                </a:extLst>
              </p:cNvPr>
              <p:cNvSpPr/>
              <p:nvPr/>
            </p:nvSpPr>
            <p:spPr>
              <a:xfrm>
                <a:off x="7963678" y="4167196"/>
                <a:ext cx="0" cy="158790"/>
              </a:xfrm>
              <a:prstGeom prst="line">
                <a:avLst/>
              </a:prstGeom>
              <a:noFill/>
              <a:ln w="15240">
                <a:solidFill>
                  <a:srgbClr val="64748B"/>
                </a:solidFill>
                <a:prstDash val="solid"/>
              </a:ln>
            </p:spPr>
          </p:sp>
          <p:sp>
            <p:nvSpPr>
              <p:cNvPr id="1197" name="Text 112">
                <a:extLst>
                  <a:ext uri="{FF2B5EF4-FFF2-40B4-BE49-F238E27FC236}">
                    <a16:creationId xmlns:a16="http://schemas.microsoft.com/office/drawing/2014/main" id="{6BAF6812-54C2-DD53-D1D0-93116CDA4CE2}"/>
                  </a:ext>
                </a:extLst>
              </p:cNvPr>
              <p:cNvSpPr/>
              <p:nvPr/>
            </p:nvSpPr>
            <p:spPr>
              <a:xfrm>
                <a:off x="7304596" y="2913888"/>
                <a:ext cx="1350264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Accesses Power Apps</a:t>
                </a:r>
              </a:p>
              <a:p>
                <a:pPr marL="0" indent="0">
                  <a:buNone/>
                </a:pPr>
                <a:r>
                  <a:rPr lang="en-US" sz="800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incident logging form</a:t>
                </a:r>
              </a:p>
            </p:txBody>
          </p:sp>
          <p:sp>
            <p:nvSpPr>
              <p:cNvPr id="1198" name="Text 112">
                <a:extLst>
                  <a:ext uri="{FF2B5EF4-FFF2-40B4-BE49-F238E27FC236}">
                    <a16:creationId xmlns:a16="http://schemas.microsoft.com/office/drawing/2014/main" id="{2AD97E13-0423-1E80-5990-F44FD101E97C}"/>
                  </a:ext>
                </a:extLst>
              </p:cNvPr>
              <p:cNvSpPr/>
              <p:nvPr/>
            </p:nvSpPr>
            <p:spPr>
              <a:xfrm>
                <a:off x="7304596" y="3657212"/>
                <a:ext cx="1576743" cy="5086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Logs new breach:</a:t>
                </a:r>
              </a:p>
              <a:p>
                <a:pPr marL="0" indent="0">
                  <a:buNone/>
                </a:pPr>
                <a:r>
                  <a:rPr lang="en-US" sz="750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Offender, Tier, Description,</a:t>
                </a:r>
              </a:p>
              <a:p>
                <a:pPr marL="0" indent="0">
                  <a:buNone/>
                </a:pPr>
                <a:r>
                  <a:rPr lang="en-US" sz="750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Evidence upload</a:t>
                </a:r>
              </a:p>
            </p:txBody>
          </p:sp>
          <p:sp>
            <p:nvSpPr>
              <p:cNvPr id="1199" name="Text 112">
                <a:extLst>
                  <a:ext uri="{FF2B5EF4-FFF2-40B4-BE49-F238E27FC236}">
                    <a16:creationId xmlns:a16="http://schemas.microsoft.com/office/drawing/2014/main" id="{0E584524-7C3B-8398-E0FA-0B85A6DD4BC6}"/>
                  </a:ext>
                </a:extLst>
              </p:cNvPr>
              <p:cNvSpPr/>
              <p:nvPr/>
            </p:nvSpPr>
            <p:spPr>
              <a:xfrm>
                <a:off x="7314130" y="4326994"/>
                <a:ext cx="1350264" cy="495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800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Record saved to</a:t>
                </a:r>
              </a:p>
              <a:p>
                <a:r>
                  <a:rPr lang="en-US" sz="800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SharePoint Compliance</a:t>
                </a:r>
              </a:p>
              <a:p>
                <a:r>
                  <a:rPr lang="en-US" sz="800">
                    <a:solidFill>
                      <a:srgbClr val="374151"/>
                    </a:solidFill>
                    <a:latin typeface="Biome" panose="020B0503030204020804" pitchFamily="34" charset="0"/>
                    <a:ea typeface="Arial" pitchFamily="34" charset="-122"/>
                    <a:cs typeface="Biome" panose="020B0503030204020804" pitchFamily="34" charset="0"/>
                  </a:rPr>
                  <a:t>Cases list</a:t>
                </a:r>
              </a:p>
            </p:txBody>
          </p:sp>
        </p:grpSp>
        <p:sp>
          <p:nvSpPr>
            <p:cNvPr id="1209" name="Shape 91">
              <a:extLst>
                <a:ext uri="{FF2B5EF4-FFF2-40B4-BE49-F238E27FC236}">
                  <a16:creationId xmlns:a16="http://schemas.microsoft.com/office/drawing/2014/main" id="{95D24A9E-970F-5A58-346C-801F787C3F24}"/>
                </a:ext>
              </a:extLst>
            </p:cNvPr>
            <p:cNvSpPr/>
            <p:nvPr/>
          </p:nvSpPr>
          <p:spPr>
            <a:xfrm rot="2700000">
              <a:off x="4447157" y="3507929"/>
              <a:ext cx="179644" cy="177030"/>
            </a:xfrm>
            <a:prstGeom prst="rect">
              <a:avLst/>
            </a:prstGeom>
            <a:solidFill>
              <a:srgbClr val="4B5563"/>
            </a:solidFill>
            <a:ln/>
          </p:spPr>
          <p:txBody>
            <a:bodyPr/>
            <a:lstStyle/>
            <a:p>
              <a:endParaRPr lang="en-US"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  <p:sp>
          <p:nvSpPr>
            <p:cNvPr id="1210" name="Shape 92">
              <a:extLst>
                <a:ext uri="{FF2B5EF4-FFF2-40B4-BE49-F238E27FC236}">
                  <a16:creationId xmlns:a16="http://schemas.microsoft.com/office/drawing/2014/main" id="{470E78DF-F13C-9337-DB76-884543B12635}"/>
                </a:ext>
              </a:extLst>
            </p:cNvPr>
            <p:cNvSpPr/>
            <p:nvPr/>
          </p:nvSpPr>
          <p:spPr>
            <a:xfrm flipV="1">
              <a:off x="3870987" y="3566456"/>
              <a:ext cx="1388766" cy="45719"/>
            </a:xfrm>
            <a:prstGeom prst="rect">
              <a:avLst/>
            </a:prstGeom>
            <a:solidFill>
              <a:srgbClr val="000000"/>
            </a:solidFill>
            <a:ln/>
          </p:spPr>
          <p:txBody>
            <a:bodyPr/>
            <a:lstStyle/>
            <a:p>
              <a:endParaRPr lang="en-US"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  <p:sp>
          <p:nvSpPr>
            <p:cNvPr id="1212" name="Shape 96">
              <a:extLst>
                <a:ext uri="{FF2B5EF4-FFF2-40B4-BE49-F238E27FC236}">
                  <a16:creationId xmlns:a16="http://schemas.microsoft.com/office/drawing/2014/main" id="{38398831-A45B-634D-EF6E-F15209AA4CE8}"/>
                </a:ext>
              </a:extLst>
            </p:cNvPr>
            <p:cNvSpPr/>
            <p:nvPr/>
          </p:nvSpPr>
          <p:spPr>
            <a:xfrm>
              <a:off x="4244909" y="3512328"/>
              <a:ext cx="193523" cy="180402"/>
            </a:xfrm>
            <a:prstGeom prst="rect">
              <a:avLst/>
            </a:prstGeom>
            <a:solidFill>
              <a:srgbClr val="C0392B"/>
            </a:solidFill>
            <a:ln/>
          </p:spPr>
        </p:sp>
        <p:sp>
          <p:nvSpPr>
            <p:cNvPr id="1211" name="Shape 94">
              <a:extLst>
                <a:ext uri="{FF2B5EF4-FFF2-40B4-BE49-F238E27FC236}">
                  <a16:creationId xmlns:a16="http://schemas.microsoft.com/office/drawing/2014/main" id="{3701D649-EAC5-CD76-B453-E03EA8AE1A95}"/>
                </a:ext>
              </a:extLst>
            </p:cNvPr>
            <p:cNvSpPr/>
            <p:nvPr/>
          </p:nvSpPr>
          <p:spPr>
            <a:xfrm>
              <a:off x="4616086" y="3502500"/>
              <a:ext cx="210924" cy="190230"/>
            </a:xfrm>
            <a:prstGeom prst="rect">
              <a:avLst/>
            </a:prstGeom>
            <a:solidFill>
              <a:srgbClr val="16A34A"/>
            </a:solidFill>
            <a:ln/>
          </p:spPr>
          <p:txBody>
            <a:bodyPr/>
            <a:lstStyle/>
            <a:p>
              <a:endParaRPr lang="en-US"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  <p:sp>
          <p:nvSpPr>
            <p:cNvPr id="1213" name="Shape 113">
              <a:extLst>
                <a:ext uri="{FF2B5EF4-FFF2-40B4-BE49-F238E27FC236}">
                  <a16:creationId xmlns:a16="http://schemas.microsoft.com/office/drawing/2014/main" id="{E9FE0E58-B1B7-ECC6-037E-A6CDF2A74B30}"/>
                </a:ext>
              </a:extLst>
            </p:cNvPr>
            <p:cNvSpPr/>
            <p:nvPr/>
          </p:nvSpPr>
          <p:spPr>
            <a:xfrm flipV="1">
              <a:off x="4499756" y="4437002"/>
              <a:ext cx="0" cy="77610"/>
            </a:xfrm>
            <a:prstGeom prst="line">
              <a:avLst/>
            </a:prstGeom>
            <a:noFill/>
            <a:ln w="1524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US"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  <p:sp>
          <p:nvSpPr>
            <p:cNvPr id="1214" name="Text 95">
              <a:extLst>
                <a:ext uri="{FF2B5EF4-FFF2-40B4-BE49-F238E27FC236}">
                  <a16:creationId xmlns:a16="http://schemas.microsoft.com/office/drawing/2014/main" id="{1A3D82B4-144C-F3D5-4B9E-380570EA060B}"/>
                </a:ext>
              </a:extLst>
            </p:cNvPr>
            <p:cNvSpPr/>
            <p:nvPr/>
          </p:nvSpPr>
          <p:spPr>
            <a:xfrm>
              <a:off x="4208858" y="3512328"/>
              <a:ext cx="257741" cy="185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>
                  <a:solidFill>
                    <a:srgbClr val="FFFFFF"/>
                  </a:solidFill>
                  <a:latin typeface="Biome" panose="020B0503030204020804" pitchFamily="34" charset="0"/>
                  <a:ea typeface="Arial" pitchFamily="34" charset="-122"/>
                  <a:cs typeface="Biome" panose="020B0503030204020804" pitchFamily="34" charset="0"/>
                </a:rPr>
                <a:t>NO</a:t>
              </a:r>
              <a:endParaRPr lang="en-US" sz="700"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  <p:sp>
          <p:nvSpPr>
            <p:cNvPr id="1215" name="Text 95">
              <a:extLst>
                <a:ext uri="{FF2B5EF4-FFF2-40B4-BE49-F238E27FC236}">
                  <a16:creationId xmlns:a16="http://schemas.microsoft.com/office/drawing/2014/main" id="{6C2C91C1-BDA4-5501-A4B4-389D419194F9}"/>
                </a:ext>
              </a:extLst>
            </p:cNvPr>
            <p:cNvSpPr/>
            <p:nvPr/>
          </p:nvSpPr>
          <p:spPr>
            <a:xfrm>
              <a:off x="4572492" y="3503989"/>
              <a:ext cx="29260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>
                  <a:solidFill>
                    <a:srgbClr val="FFFFFF"/>
                  </a:solidFill>
                  <a:latin typeface="Biome" panose="020B0503030204020804" pitchFamily="34" charset="0"/>
                  <a:ea typeface="Arial" pitchFamily="34" charset="-122"/>
                  <a:cs typeface="Biome" panose="020B0503030204020804" pitchFamily="34" charset="0"/>
                </a:rPr>
                <a:t>YES</a:t>
              </a:r>
              <a:endParaRPr lang="en-US" sz="700"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  <p:sp>
          <p:nvSpPr>
            <p:cNvPr id="5" name="Shape 113">
              <a:extLst>
                <a:ext uri="{FF2B5EF4-FFF2-40B4-BE49-F238E27FC236}">
                  <a16:creationId xmlns:a16="http://schemas.microsoft.com/office/drawing/2014/main" id="{D2CCF47B-693E-D69C-0BC3-11F6D85157A3}"/>
                </a:ext>
              </a:extLst>
            </p:cNvPr>
            <p:cNvSpPr/>
            <p:nvPr/>
          </p:nvSpPr>
          <p:spPr>
            <a:xfrm flipV="1">
              <a:off x="2851637" y="4403549"/>
              <a:ext cx="0" cy="77610"/>
            </a:xfrm>
            <a:prstGeom prst="line">
              <a:avLst/>
            </a:prstGeom>
            <a:noFill/>
            <a:ln w="1524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US">
                <a:latin typeface="Biome" panose="020B0503030204020804" pitchFamily="34" charset="0"/>
                <a:cs typeface="Biome" panose="020B05030302040208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84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34769-B32F-A4EF-1208-797810FAB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FD1BD9-5D55-2DC9-1F0C-CE5C0747E8DC}"/>
              </a:ext>
            </a:extLst>
          </p:cNvPr>
          <p:cNvSpPr/>
          <p:nvPr/>
        </p:nvSpPr>
        <p:spPr>
          <a:xfrm>
            <a:off x="0" y="5060666"/>
            <a:ext cx="9171595" cy="91440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1026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1FBC4FB-BD92-96F8-E376-8B8CCE760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-137159"/>
            <a:ext cx="1280160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EA72B89-04D2-A117-73AB-71733362031E}"/>
              </a:ext>
            </a:extLst>
          </p:cNvPr>
          <p:cNvSpPr/>
          <p:nvPr/>
        </p:nvSpPr>
        <p:spPr>
          <a:xfrm>
            <a:off x="6638544" y="290323"/>
            <a:ext cx="22844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0000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HOW WE'RE BUILDING IT — TECHNOLOGY STACK</a:t>
            </a:r>
            <a:endParaRPr lang="en-US" sz="140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7D71016-3277-746B-0368-76AC5D285EA3}"/>
              </a:ext>
            </a:extLst>
          </p:cNvPr>
          <p:cNvSpPr/>
          <p:nvPr/>
        </p:nvSpPr>
        <p:spPr>
          <a:xfrm>
            <a:off x="347472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A0B4D0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100% Microsoft 365 — no new software licenses required</a:t>
            </a:r>
            <a:endParaRPr lang="en-US" sz="9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8B49FC9-7A79-F0FF-FFD5-5B2A09A658BF}"/>
              </a:ext>
            </a:extLst>
          </p:cNvPr>
          <p:cNvSpPr/>
          <p:nvPr/>
        </p:nvSpPr>
        <p:spPr>
          <a:xfrm>
            <a:off x="274320" y="1417320"/>
            <a:ext cx="2011680" cy="3154680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D26AA5B-A6AC-700E-D975-64D19B0DD542}"/>
              </a:ext>
            </a:extLst>
          </p:cNvPr>
          <p:cNvSpPr/>
          <p:nvPr/>
        </p:nvSpPr>
        <p:spPr>
          <a:xfrm>
            <a:off x="274320" y="1417320"/>
            <a:ext cx="2011680" cy="5486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2796DEC-81AD-8E77-D6E3-567E16997F90}"/>
              </a:ext>
            </a:extLst>
          </p:cNvPr>
          <p:cNvSpPr/>
          <p:nvPr/>
        </p:nvSpPr>
        <p:spPr>
          <a:xfrm>
            <a:off x="411480" y="1536192"/>
            <a:ext cx="1737360" cy="25603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C392360-ACD3-EEF9-4C21-45C767F2D6B9}"/>
              </a:ext>
            </a:extLst>
          </p:cNvPr>
          <p:cNvSpPr/>
          <p:nvPr/>
        </p:nvSpPr>
        <p:spPr>
          <a:xfrm>
            <a:off x="411480" y="1536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chemeClr val="bg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Foundation</a:t>
            </a:r>
            <a:endParaRPr lang="en-US" sz="90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E5247A3-C617-654E-F5D3-3E2D5CDBBB00}"/>
              </a:ext>
            </a:extLst>
          </p:cNvPr>
          <p:cNvSpPr/>
          <p:nvPr/>
        </p:nvSpPr>
        <p:spPr>
          <a:xfrm>
            <a:off x="822960" y="1920240"/>
            <a:ext cx="914400" cy="914400"/>
          </a:xfrm>
          <a:prstGeom prst="ellipse">
            <a:avLst/>
          </a:prstGeom>
          <a:solidFill>
            <a:srgbClr val="FF00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F0E0B1CB-B45F-7DC3-C081-C9E946F08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993392"/>
            <a:ext cx="768096" cy="768096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0217EC0D-FA8F-7DC0-F3EC-5AFB07AE4715}"/>
              </a:ext>
            </a:extLst>
          </p:cNvPr>
          <p:cNvSpPr/>
          <p:nvPr/>
        </p:nvSpPr>
        <p:spPr>
          <a:xfrm>
            <a:off x="365760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SharePoint Lists</a:t>
            </a:r>
            <a:endParaRPr lang="en-US" sz="12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06143211-17A8-F455-F895-D6975271B52B}"/>
              </a:ext>
            </a:extLst>
          </p:cNvPr>
          <p:cNvSpPr/>
          <p:nvPr/>
        </p:nvSpPr>
        <p:spPr>
          <a:xfrm>
            <a:off x="365760" y="34564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A0B4D0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Database backbone — stores all cases, staff, offences, actions and audit records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BF8F06B-A3EA-7A68-AECC-6EC9D4C39236}"/>
              </a:ext>
            </a:extLst>
          </p:cNvPr>
          <p:cNvSpPr/>
          <p:nvPr/>
        </p:nvSpPr>
        <p:spPr>
          <a:xfrm>
            <a:off x="2450592" y="1417320"/>
            <a:ext cx="2011680" cy="3154680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E6A5CD9F-550E-7F32-36E8-A9AED666DAA6}"/>
              </a:ext>
            </a:extLst>
          </p:cNvPr>
          <p:cNvSpPr/>
          <p:nvPr/>
        </p:nvSpPr>
        <p:spPr>
          <a:xfrm>
            <a:off x="2450592" y="1417320"/>
            <a:ext cx="2011680" cy="5486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A14E3D5-0D79-EF6D-FD3A-5CBDB925C1D4}"/>
              </a:ext>
            </a:extLst>
          </p:cNvPr>
          <p:cNvSpPr/>
          <p:nvPr/>
        </p:nvSpPr>
        <p:spPr>
          <a:xfrm>
            <a:off x="2587752" y="1536192"/>
            <a:ext cx="1737360" cy="25603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44045DA-4587-EC8F-B4B3-709923A95B4B}"/>
              </a:ext>
            </a:extLst>
          </p:cNvPr>
          <p:cNvSpPr/>
          <p:nvPr/>
        </p:nvSpPr>
        <p:spPr>
          <a:xfrm>
            <a:off x="2587752" y="1536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chemeClr val="bg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Logic Layer</a:t>
            </a:r>
            <a:endParaRPr lang="en-US" sz="90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6E41E833-FF6E-E352-BC8D-FDC7DF315D76}"/>
              </a:ext>
            </a:extLst>
          </p:cNvPr>
          <p:cNvSpPr/>
          <p:nvPr/>
        </p:nvSpPr>
        <p:spPr>
          <a:xfrm>
            <a:off x="2999232" y="1920240"/>
            <a:ext cx="914400" cy="914400"/>
          </a:xfrm>
          <a:prstGeom prst="ellipse">
            <a:avLst/>
          </a:prstGeom>
          <a:solidFill>
            <a:srgbClr val="FF00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1A4D013D-95B0-B3F4-336D-3AB7229E2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384" y="1993392"/>
            <a:ext cx="768096" cy="768096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41296E2A-D9A0-83A2-4314-E17C0FF47A94}"/>
              </a:ext>
            </a:extLst>
          </p:cNvPr>
          <p:cNvSpPr/>
          <p:nvPr/>
        </p:nvSpPr>
        <p:spPr>
          <a:xfrm>
            <a:off x="2542032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Power Automate</a:t>
            </a:r>
            <a:endParaRPr lang="en-US" sz="12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22F72D7D-70E5-7F1C-F36D-55974F57258F}"/>
              </a:ext>
            </a:extLst>
          </p:cNvPr>
          <p:cNvSpPr/>
          <p:nvPr/>
        </p:nvSpPr>
        <p:spPr>
          <a:xfrm>
            <a:off x="2542032" y="34564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A0B4D0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Automation engine — handles notifications, escalations, and disciplinary logic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B80F929E-6958-4610-C960-ECED87037BA9}"/>
              </a:ext>
            </a:extLst>
          </p:cNvPr>
          <p:cNvSpPr/>
          <p:nvPr/>
        </p:nvSpPr>
        <p:spPr>
          <a:xfrm>
            <a:off x="4626864" y="1417320"/>
            <a:ext cx="2011680" cy="3154680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4C50CEE5-80EC-0215-8917-A46132B6CC85}"/>
              </a:ext>
            </a:extLst>
          </p:cNvPr>
          <p:cNvSpPr/>
          <p:nvPr/>
        </p:nvSpPr>
        <p:spPr>
          <a:xfrm>
            <a:off x="4626864" y="1417320"/>
            <a:ext cx="2011680" cy="5486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4121FF1A-D103-5390-F4EC-E49CC73BF12E}"/>
              </a:ext>
            </a:extLst>
          </p:cNvPr>
          <p:cNvSpPr/>
          <p:nvPr/>
        </p:nvSpPr>
        <p:spPr>
          <a:xfrm>
            <a:off x="4764024" y="1536192"/>
            <a:ext cx="1737360" cy="25603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CF39B48-6ECC-D9F9-2C45-4050DFD36C1B}"/>
              </a:ext>
            </a:extLst>
          </p:cNvPr>
          <p:cNvSpPr/>
          <p:nvPr/>
        </p:nvSpPr>
        <p:spPr>
          <a:xfrm>
            <a:off x="4764024" y="1536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chemeClr val="bg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User Interface</a:t>
            </a:r>
            <a:endParaRPr lang="en-US" sz="90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851A2C51-A4C7-C886-63B1-FF0FBBDA62E4}"/>
              </a:ext>
            </a:extLst>
          </p:cNvPr>
          <p:cNvSpPr/>
          <p:nvPr/>
        </p:nvSpPr>
        <p:spPr>
          <a:xfrm>
            <a:off x="5175504" y="1920240"/>
            <a:ext cx="914400" cy="914400"/>
          </a:xfrm>
          <a:prstGeom prst="ellipse">
            <a:avLst/>
          </a:prstGeom>
          <a:solidFill>
            <a:srgbClr val="FF00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E427AA29-D6C1-78D6-1247-2A9FD77F8C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656" y="1993392"/>
            <a:ext cx="768096" cy="768096"/>
          </a:xfrm>
          <a:prstGeom prst="rect">
            <a:avLst/>
          </a:prstGeom>
        </p:spPr>
      </p:pic>
      <p:sp>
        <p:nvSpPr>
          <p:cNvPr id="28" name="Text 22">
            <a:extLst>
              <a:ext uri="{FF2B5EF4-FFF2-40B4-BE49-F238E27FC236}">
                <a16:creationId xmlns:a16="http://schemas.microsoft.com/office/drawing/2014/main" id="{BC425D43-21E7-F571-1A66-58C1854FDFF5}"/>
              </a:ext>
            </a:extLst>
          </p:cNvPr>
          <p:cNvSpPr/>
          <p:nvPr/>
        </p:nvSpPr>
        <p:spPr>
          <a:xfrm>
            <a:off x="4718304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Power Apps</a:t>
            </a:r>
            <a:endParaRPr lang="en-US" sz="12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FA0A7BCC-88AF-755A-B90D-9F27D0D1C633}"/>
              </a:ext>
            </a:extLst>
          </p:cNvPr>
          <p:cNvSpPr/>
          <p:nvPr/>
        </p:nvSpPr>
        <p:spPr>
          <a:xfrm>
            <a:off x="4718304" y="34564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A0B4D0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Custom incident logging form — auto-fills staff details and offence categories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35334FCC-5A71-17A9-6E95-6DE92321DFEA}"/>
              </a:ext>
            </a:extLst>
          </p:cNvPr>
          <p:cNvSpPr/>
          <p:nvPr/>
        </p:nvSpPr>
        <p:spPr>
          <a:xfrm>
            <a:off x="6803136" y="1417320"/>
            <a:ext cx="2011680" cy="3154680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D0402C92-CC0D-C1DF-51FC-A17CC017124C}"/>
              </a:ext>
            </a:extLst>
          </p:cNvPr>
          <p:cNvSpPr/>
          <p:nvPr/>
        </p:nvSpPr>
        <p:spPr>
          <a:xfrm>
            <a:off x="6803136" y="1417320"/>
            <a:ext cx="2011680" cy="5486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</p:sp>
      <p:sp>
        <p:nvSpPr>
          <p:cNvPr id="1024" name="Shape 26">
            <a:extLst>
              <a:ext uri="{FF2B5EF4-FFF2-40B4-BE49-F238E27FC236}">
                <a16:creationId xmlns:a16="http://schemas.microsoft.com/office/drawing/2014/main" id="{B2CA8FD1-D7DE-2561-6D45-D1C167321783}"/>
              </a:ext>
            </a:extLst>
          </p:cNvPr>
          <p:cNvSpPr/>
          <p:nvPr/>
        </p:nvSpPr>
        <p:spPr>
          <a:xfrm>
            <a:off x="6940296" y="1536192"/>
            <a:ext cx="1737360" cy="25603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025" name="Text 27">
            <a:extLst>
              <a:ext uri="{FF2B5EF4-FFF2-40B4-BE49-F238E27FC236}">
                <a16:creationId xmlns:a16="http://schemas.microsoft.com/office/drawing/2014/main" id="{15FF192E-E2F6-9D16-E450-D7663283C5CA}"/>
              </a:ext>
            </a:extLst>
          </p:cNvPr>
          <p:cNvSpPr/>
          <p:nvPr/>
        </p:nvSpPr>
        <p:spPr>
          <a:xfrm>
            <a:off x="6940296" y="1536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chemeClr val="bg1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Insights Layer</a:t>
            </a:r>
            <a:endParaRPr lang="en-US" sz="90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27" name="Shape 28">
            <a:extLst>
              <a:ext uri="{FF2B5EF4-FFF2-40B4-BE49-F238E27FC236}">
                <a16:creationId xmlns:a16="http://schemas.microsoft.com/office/drawing/2014/main" id="{CB206AE9-C093-2B31-8212-AE978A7E7B8D}"/>
              </a:ext>
            </a:extLst>
          </p:cNvPr>
          <p:cNvSpPr/>
          <p:nvPr/>
        </p:nvSpPr>
        <p:spPr>
          <a:xfrm>
            <a:off x="7351776" y="1920240"/>
            <a:ext cx="914400" cy="914400"/>
          </a:xfrm>
          <a:prstGeom prst="ellipse">
            <a:avLst/>
          </a:prstGeom>
          <a:solidFill>
            <a:srgbClr val="FF00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28" name="Image 3" descr="preencoded.png">
            <a:extLst>
              <a:ext uri="{FF2B5EF4-FFF2-40B4-BE49-F238E27FC236}">
                <a16:creationId xmlns:a16="http://schemas.microsoft.com/office/drawing/2014/main" id="{249746E6-4166-AEF2-D655-B97EDA41FF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1993392"/>
            <a:ext cx="768096" cy="768096"/>
          </a:xfrm>
          <a:prstGeom prst="rect">
            <a:avLst/>
          </a:prstGeom>
        </p:spPr>
      </p:pic>
      <p:sp>
        <p:nvSpPr>
          <p:cNvPr id="1029" name="Text 29">
            <a:extLst>
              <a:ext uri="{FF2B5EF4-FFF2-40B4-BE49-F238E27FC236}">
                <a16:creationId xmlns:a16="http://schemas.microsoft.com/office/drawing/2014/main" id="{35B9EFC7-C13C-EA94-179A-E6976254DFAF}"/>
              </a:ext>
            </a:extLst>
          </p:cNvPr>
          <p:cNvSpPr/>
          <p:nvPr/>
        </p:nvSpPr>
        <p:spPr>
          <a:xfrm>
            <a:off x="6894576" y="2999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Power BI</a:t>
            </a:r>
            <a:endParaRPr lang="en-US" sz="12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30" name="Text 30">
            <a:extLst>
              <a:ext uri="{FF2B5EF4-FFF2-40B4-BE49-F238E27FC236}">
                <a16:creationId xmlns:a16="http://schemas.microsoft.com/office/drawing/2014/main" id="{0DAF2D1E-D74D-9C93-7CEC-F4C0DDD42CB5}"/>
              </a:ext>
            </a:extLst>
          </p:cNvPr>
          <p:cNvSpPr/>
          <p:nvPr/>
        </p:nvSpPr>
        <p:spPr>
          <a:xfrm>
            <a:off x="6894576" y="34564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A0B4D0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Executive dashboard — real-time compliance posture, trends, and risk heatmaps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66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29400" y="0"/>
            <a:ext cx="26746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0000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WHERE WE ARE — BUILD PROGRESS</a:t>
            </a:r>
            <a:endParaRPr lang="en-US" sz="140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Biome"/>
                <a:ea typeface="Arial" pitchFamily="34" charset="-122"/>
                <a:cs typeface="Biome"/>
              </a:rPr>
              <a:t>Started: 10 March 2026  ·  Target Go-Live: 28th April, 2026  ·  Duration: 6 weeks</a:t>
            </a:r>
            <a:endParaRPr lang="en-US" sz="900" dirty="0">
              <a:latin typeface="Biome"/>
              <a:cs typeface="Biome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Phase 0 — Foundation &amp; Discovery</a:t>
            </a:r>
            <a:endParaRPr lang="en-US" sz="10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Mar 10–14</a:t>
            </a:r>
            <a:endParaRPr lang="en-US" sz="9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20640" y="1426464"/>
            <a:ext cx="4023360" cy="2651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1426464"/>
            <a:ext cx="4023360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1408176"/>
            <a:ext cx="777240" cy="2377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14081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✓ DONE</a:t>
            </a:r>
            <a:endParaRPr lang="en-US" sz="7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" y="1819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Phase 1 — Core Lists + Notification Flows</a:t>
            </a:r>
            <a:endParaRPr lang="en-US" sz="10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0" y="18196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Mar 14–20</a:t>
            </a:r>
            <a:endParaRPr lang="en-US" sz="9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20640" y="1874520"/>
            <a:ext cx="40233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1874520"/>
            <a:ext cx="4023360" cy="2651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856232"/>
            <a:ext cx="777240" cy="2377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85623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✓ DONE</a:t>
            </a:r>
            <a:endParaRPr lang="en-US" sz="7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2267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Phase 2 — Tier Classification Engine</a:t>
            </a:r>
            <a:endParaRPr lang="en-US" sz="10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0" y="2267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Mar 21–27</a:t>
            </a:r>
            <a:endParaRPr lang="en-US" sz="9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20640" y="2322576"/>
            <a:ext cx="40233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2322576"/>
            <a:ext cx="3196113" cy="227957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21" name="Shape 19"/>
          <p:cNvSpPr/>
          <p:nvPr/>
        </p:nvSpPr>
        <p:spPr>
          <a:xfrm>
            <a:off x="8321040" y="2304288"/>
            <a:ext cx="777240" cy="237744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1" y="2286429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b="1">
                <a:latin typeface="Biome"/>
                <a:cs typeface="Biome"/>
              </a:rPr>
              <a:t>✓ </a:t>
            </a:r>
            <a:r>
              <a:rPr lang="en-US" sz="750" b="1">
                <a:latin typeface="Biome"/>
                <a:cs typeface="Biome"/>
              </a:rPr>
              <a:t>DONE</a:t>
            </a:r>
            <a:endParaRPr lang="en-US" sz="750" b="1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74320" y="2715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latin typeface="Biome"/>
                <a:ea typeface="Arial" pitchFamily="34" charset="-122"/>
                <a:cs typeface="Biome"/>
              </a:rPr>
              <a:t>Phase 3 — Repeat Offence + Auto-Escalation</a:t>
            </a:r>
            <a:endParaRPr lang="en-US" sz="1000" b="1">
              <a:latin typeface="Biome"/>
              <a:cs typeface="Biome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0" y="27157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latin typeface="Biome"/>
                <a:ea typeface="Arial" pitchFamily="34" charset="-122"/>
                <a:cs typeface="Biome"/>
              </a:rPr>
              <a:t>Mar 28–Apr 4</a:t>
            </a:r>
            <a:endParaRPr lang="en-US" sz="9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120640" y="2752774"/>
            <a:ext cx="3192899" cy="227956"/>
          </a:xfrm>
          <a:prstGeom prst="rect">
            <a:avLst/>
          </a:prstGeom>
          <a:solidFill>
            <a:srgbClr val="00B05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2752344"/>
            <a:ext cx="777240" cy="23774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2752344"/>
            <a:ext cx="777240" cy="237744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b="1">
                <a:latin typeface="Biome"/>
                <a:cs typeface="Biome"/>
              </a:rPr>
              <a:t>✓ </a:t>
            </a:r>
            <a:r>
              <a:rPr lang="en-US" sz="750" b="1">
                <a:latin typeface="Biome"/>
                <a:cs typeface="Biome"/>
              </a:rPr>
              <a:t>DONE</a:t>
            </a:r>
            <a:endParaRPr lang="en-US" sz="750" b="1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4320" y="31638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latin typeface="Biome"/>
                <a:ea typeface="Arial" pitchFamily="34" charset="-122"/>
                <a:cs typeface="Biome"/>
              </a:rPr>
              <a:t>Phase 4 — Appeals Workflow</a:t>
            </a:r>
            <a:endParaRPr lang="en-US" sz="1000" b="1">
              <a:latin typeface="Biome"/>
              <a:cs typeface="Biome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57600" y="31638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latin typeface="Biome"/>
                <a:ea typeface="Arial" pitchFamily="34" charset="-122"/>
                <a:cs typeface="Biome"/>
              </a:rPr>
              <a:t>Apr 5–9</a:t>
            </a:r>
            <a:endParaRPr lang="en-US" sz="9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120640" y="3218688"/>
            <a:ext cx="4023360" cy="201168"/>
          </a:xfrm>
          <a:prstGeom prst="rect">
            <a:avLst/>
          </a:prstGeom>
          <a:solidFill>
            <a:srgbClr val="00B05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200400"/>
            <a:ext cx="777240" cy="2377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1" y="3200400"/>
            <a:ext cx="777240" cy="237744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b="1">
                <a:latin typeface="Biome"/>
                <a:cs typeface="Biome"/>
              </a:rPr>
              <a:t>✓ DONE</a:t>
            </a:r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latin typeface="Biome"/>
                <a:ea typeface="Arial" pitchFamily="34" charset="-122"/>
                <a:cs typeface="Biome"/>
              </a:rPr>
              <a:t>Phase 5 — Power Apps Form</a:t>
            </a:r>
            <a:endParaRPr lang="en-US" sz="1000" b="1">
              <a:latin typeface="Biome"/>
              <a:cs typeface="Biome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65760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latin typeface="Biome"/>
                <a:ea typeface="Arial" pitchFamily="34" charset="-122"/>
                <a:cs typeface="Biome"/>
              </a:rPr>
              <a:t>Apr 10–15</a:t>
            </a:r>
            <a:endParaRPr lang="en-US" sz="9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120640" y="3657815"/>
            <a:ext cx="2942868" cy="236886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3648456"/>
            <a:ext cx="777240" cy="2377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7" name="Text 35"/>
          <p:cNvSpPr/>
          <p:nvPr/>
        </p:nvSpPr>
        <p:spPr>
          <a:xfrm>
            <a:off x="8321040" y="3648456"/>
            <a:ext cx="777240" cy="237744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latin typeface="Biome"/>
                <a:cs typeface="Biome"/>
              </a:rPr>
              <a:t>ACTIVE</a:t>
            </a:r>
            <a:endParaRPr lang="en-US" sz="750" b="1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74320" y="40599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Phase 6 — Power BI Dashboard</a:t>
            </a:r>
            <a:endParaRPr lang="en-US" sz="10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657600" y="40599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latin typeface="Biome"/>
                <a:ea typeface="Arial" pitchFamily="34" charset="-122"/>
                <a:cs typeface="Biome"/>
              </a:rPr>
              <a:t>Apr 16–Apr 22</a:t>
            </a:r>
            <a:endParaRPr lang="en-US" sz="900">
              <a:latin typeface="Biome"/>
              <a:cs typeface="Biome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120640" y="4114800"/>
            <a:ext cx="40233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4096512"/>
            <a:ext cx="777240" cy="2377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2" name="Text 40"/>
          <p:cNvSpPr/>
          <p:nvPr/>
        </p:nvSpPr>
        <p:spPr>
          <a:xfrm>
            <a:off x="8321040" y="40965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SOON</a:t>
            </a:r>
            <a:endParaRPr lang="en-US" sz="7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74320" y="4507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Phase 7 — Testing &amp; Deployment</a:t>
            </a:r>
            <a:endParaRPr lang="en-US" sz="10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657600" y="4507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latin typeface="Biome"/>
                <a:ea typeface="Arial" pitchFamily="34" charset="-122"/>
                <a:cs typeface="Biome"/>
              </a:rPr>
              <a:t>Apr 23–28</a:t>
            </a:r>
            <a:endParaRPr lang="en-US" sz="9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120640" y="4562856"/>
            <a:ext cx="40233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4544568"/>
            <a:ext cx="777240" cy="2377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7" name="Text 45"/>
          <p:cNvSpPr/>
          <p:nvPr/>
        </p:nvSpPr>
        <p:spPr>
          <a:xfrm>
            <a:off x="8321040" y="45445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SOON</a:t>
            </a:r>
            <a:endParaRPr lang="en-US" sz="7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50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3CA2CB14-5D21-9D0A-0089-A6A2677DB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4310"/>
            <a:ext cx="1280160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Shape 0">
            <a:extLst>
              <a:ext uri="{FF2B5EF4-FFF2-40B4-BE49-F238E27FC236}">
                <a16:creationId xmlns:a16="http://schemas.microsoft.com/office/drawing/2014/main" id="{15C7A79D-792E-8F4A-6A96-752D391DDA58}"/>
              </a:ext>
            </a:extLst>
          </p:cNvPr>
          <p:cNvSpPr/>
          <p:nvPr/>
        </p:nvSpPr>
        <p:spPr>
          <a:xfrm>
            <a:off x="0" y="5060666"/>
            <a:ext cx="9171595" cy="91440"/>
          </a:xfrm>
          <a:prstGeom prst="rect">
            <a:avLst/>
          </a:prstGeom>
          <a:solidFill>
            <a:srgbClr val="FF00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7B2D43-B6EC-1089-5D7F-E643C4D2D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C37D25-22D2-4C26-F581-4091B3F6BA98}"/>
              </a:ext>
            </a:extLst>
          </p:cNvPr>
          <p:cNvSpPr/>
          <p:nvPr/>
        </p:nvSpPr>
        <p:spPr>
          <a:xfrm>
            <a:off x="0" y="5060666"/>
            <a:ext cx="9171595" cy="91440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1026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AEE5492A-AE9C-3AF2-C9FF-8F6F28046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-137159"/>
            <a:ext cx="1280160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273C462-7BD1-B253-CCCD-07E7980A5E54}"/>
              </a:ext>
            </a:extLst>
          </p:cNvPr>
          <p:cNvSpPr/>
          <p:nvPr/>
        </p:nvSpPr>
        <p:spPr>
          <a:xfrm>
            <a:off x="5404104" y="73421"/>
            <a:ext cx="343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0000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QA/QC TESTING &amp; DEPLOYMENT PLAN</a:t>
            </a:r>
            <a:endParaRPr lang="en-US" sz="140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1A8A4B4-441D-F938-38EE-F1B4DF4BEAC9}"/>
              </a:ext>
            </a:extLst>
          </p:cNvPr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D896785-10CD-3AD8-87C0-7266F5A27A71}"/>
              </a:ext>
            </a:extLst>
          </p:cNvPr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QA/QC TESTING STAGES</a:t>
            </a:r>
            <a:endParaRPr lang="en-US" sz="12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3DAFCBD-E70F-5B0A-B206-B969DBE6E898}"/>
              </a:ext>
            </a:extLst>
          </p:cNvPr>
          <p:cNvSpPr/>
          <p:nvPr/>
        </p:nvSpPr>
        <p:spPr>
          <a:xfrm>
            <a:off x="274320" y="14173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5BB5890-FD93-F615-42BD-904379057812}"/>
              </a:ext>
            </a:extLst>
          </p:cNvPr>
          <p:cNvSpPr/>
          <p:nvPr/>
        </p:nvSpPr>
        <p:spPr>
          <a:xfrm>
            <a:off x="274320" y="1417320"/>
            <a:ext cx="64008" cy="5669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9B9ECB8-60A6-3601-95EF-B33E255A5DD5}"/>
              </a:ext>
            </a:extLst>
          </p:cNvPr>
          <p:cNvSpPr/>
          <p:nvPr/>
        </p:nvSpPr>
        <p:spPr>
          <a:xfrm>
            <a:off x="457200" y="1472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Unit Testing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70BA198-FE9C-E044-2799-E9CF22DD4514}"/>
              </a:ext>
            </a:extLst>
          </p:cNvPr>
          <p:cNvSpPr/>
          <p:nvPr/>
        </p:nvSpPr>
        <p:spPr>
          <a:xfrm>
            <a:off x="457200" y="1691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Each flow tested individually with dummy records to verify correct trigger and output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02D3AF8-55C3-6D1A-3786-FB879F998674}"/>
              </a:ext>
            </a:extLst>
          </p:cNvPr>
          <p:cNvSpPr/>
          <p:nvPr/>
        </p:nvSpPr>
        <p:spPr>
          <a:xfrm>
            <a:off x="274320" y="207568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01E2518-CA4E-B0B6-792D-A4B107DEA80D}"/>
              </a:ext>
            </a:extLst>
          </p:cNvPr>
          <p:cNvSpPr/>
          <p:nvPr/>
        </p:nvSpPr>
        <p:spPr>
          <a:xfrm>
            <a:off x="274320" y="2075688"/>
            <a:ext cx="64008" cy="5669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300C469-9132-46EE-0769-032DCC71F53A}"/>
              </a:ext>
            </a:extLst>
          </p:cNvPr>
          <p:cNvSpPr/>
          <p:nvPr/>
        </p:nvSpPr>
        <p:spPr>
          <a:xfrm>
            <a:off x="457200" y="21305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Integration Testing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58A888A-39FC-415F-0F29-2E657C7AB17D}"/>
              </a:ext>
            </a:extLst>
          </p:cNvPr>
          <p:cNvSpPr/>
          <p:nvPr/>
        </p:nvSpPr>
        <p:spPr>
          <a:xfrm>
            <a:off x="457200" y="2350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All 7 lists connected — verify data flows correctly between lists on record creation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CE141A8-5250-27F3-A6A1-371B3721C498}"/>
              </a:ext>
            </a:extLst>
          </p:cNvPr>
          <p:cNvSpPr/>
          <p:nvPr/>
        </p:nvSpPr>
        <p:spPr>
          <a:xfrm>
            <a:off x="274320" y="2734056"/>
            <a:ext cx="40233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C6E47A4-F2FC-771C-A004-834A3B3A10B2}"/>
              </a:ext>
            </a:extLst>
          </p:cNvPr>
          <p:cNvSpPr/>
          <p:nvPr/>
        </p:nvSpPr>
        <p:spPr>
          <a:xfrm>
            <a:off x="274320" y="2734056"/>
            <a:ext cx="64008" cy="5669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8F72CC8-90CE-4B82-8823-2D134622F1EB}"/>
              </a:ext>
            </a:extLst>
          </p:cNvPr>
          <p:cNvSpPr/>
          <p:nvPr/>
        </p:nvSpPr>
        <p:spPr>
          <a:xfrm>
            <a:off x="457200" y="2788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Email Testing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BE76A08-EF1D-1B8C-D3DE-A03315934F1C}"/>
              </a:ext>
            </a:extLst>
          </p:cNvPr>
          <p:cNvSpPr/>
          <p:nvPr/>
        </p:nvSpPr>
        <p:spPr>
          <a:xfrm>
            <a:off x="457200" y="3008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Confirm all notifications fire to correct recipients with correct content and formatting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C6EADAC-3999-893F-F2EA-9262FFB05BE9}"/>
              </a:ext>
            </a:extLst>
          </p:cNvPr>
          <p:cNvSpPr/>
          <p:nvPr/>
        </p:nvSpPr>
        <p:spPr>
          <a:xfrm>
            <a:off x="274320" y="339242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68FB0CE1-3BA6-EC12-B896-224E4A2A6FA6}"/>
              </a:ext>
            </a:extLst>
          </p:cNvPr>
          <p:cNvSpPr/>
          <p:nvPr/>
        </p:nvSpPr>
        <p:spPr>
          <a:xfrm>
            <a:off x="274320" y="3392424"/>
            <a:ext cx="64008" cy="5669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55DA0E1-8A3F-E616-2B64-C66176B7581C}"/>
              </a:ext>
            </a:extLst>
          </p:cNvPr>
          <p:cNvSpPr/>
          <p:nvPr/>
        </p:nvSpPr>
        <p:spPr>
          <a:xfrm>
            <a:off x="457200" y="3447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Escalation Testing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E55F917-0AE9-08A0-EBF4-1849ADE42278}"/>
              </a:ext>
            </a:extLst>
          </p:cNvPr>
          <p:cNvSpPr/>
          <p:nvPr/>
        </p:nvSpPr>
        <p:spPr>
          <a:xfrm>
            <a:off x="457200" y="3666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Simulate 3 Tier 1 offences within 6 months — verify automatic tier upgrade triggers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1D2EA9FF-9235-5B13-3955-C83D5EBD1381}"/>
              </a:ext>
            </a:extLst>
          </p:cNvPr>
          <p:cNvSpPr/>
          <p:nvPr/>
        </p:nvSpPr>
        <p:spPr>
          <a:xfrm>
            <a:off x="274320" y="4050792"/>
            <a:ext cx="40233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296A2AED-2B9E-B7DA-6447-E82E0BF9A629}"/>
              </a:ext>
            </a:extLst>
          </p:cNvPr>
          <p:cNvSpPr/>
          <p:nvPr/>
        </p:nvSpPr>
        <p:spPr>
          <a:xfrm>
            <a:off x="274320" y="4050792"/>
            <a:ext cx="64008" cy="5669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8D9C5B67-FE2B-807D-F28C-429267398041}"/>
              </a:ext>
            </a:extLst>
          </p:cNvPr>
          <p:cNvSpPr/>
          <p:nvPr/>
        </p:nvSpPr>
        <p:spPr>
          <a:xfrm>
            <a:off x="457200" y="4105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6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User Acceptance Testing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86D8C44F-271D-F421-F098-033426D7D9C0}"/>
              </a:ext>
            </a:extLst>
          </p:cNvPr>
          <p:cNvSpPr/>
          <p:nvPr/>
        </p:nvSpPr>
        <p:spPr>
          <a:xfrm>
            <a:off x="457200" y="4325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Biome"/>
                <a:ea typeface="Arial" pitchFamily="34" charset="-122"/>
                <a:cs typeface="Biome"/>
              </a:rPr>
              <a:t>Admin and HR test the full workflow in a live environment before go-live</a:t>
            </a:r>
            <a:endParaRPr lang="en-US" sz="950">
              <a:latin typeface="Biome"/>
              <a:cs typeface="Biome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1C35640-8E05-B08D-5606-5D808B0AB23D}"/>
              </a:ext>
            </a:extLst>
          </p:cNvPr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E0D33669-0351-ABA0-4495-52709A43AC09}"/>
              </a:ext>
            </a:extLst>
          </p:cNvPr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DEPLOYMENT PLAN</a:t>
            </a:r>
            <a:endParaRPr lang="en-US" sz="12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2F968973-BADD-2A56-F298-01BB7B8EA08C}"/>
              </a:ext>
            </a:extLst>
          </p:cNvPr>
          <p:cNvSpPr/>
          <p:nvPr/>
        </p:nvSpPr>
        <p:spPr>
          <a:xfrm>
            <a:off x="4846320" y="1417320"/>
            <a:ext cx="4023360" cy="566928"/>
          </a:xfrm>
          <a:prstGeom prst="rect">
            <a:avLst/>
          </a:prstGeom>
          <a:solidFill>
            <a:srgbClr val="FEF9F9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8895D9A4-623E-114A-6B70-1EB858E75F2A}"/>
              </a:ext>
            </a:extLst>
          </p:cNvPr>
          <p:cNvSpPr/>
          <p:nvPr/>
        </p:nvSpPr>
        <p:spPr>
          <a:xfrm>
            <a:off x="4846320" y="1417320"/>
            <a:ext cx="64008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AF0A3482-B410-DA81-0F63-70B3957A50CC}"/>
              </a:ext>
            </a:extLst>
          </p:cNvPr>
          <p:cNvSpPr/>
          <p:nvPr/>
        </p:nvSpPr>
        <p:spPr>
          <a:xfrm>
            <a:off x="5029200" y="1472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Week 1 — Soft Launch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24" name="Text 29">
            <a:extLst>
              <a:ext uri="{FF2B5EF4-FFF2-40B4-BE49-F238E27FC236}">
                <a16:creationId xmlns:a16="http://schemas.microsoft.com/office/drawing/2014/main" id="{27B4767A-425E-B93F-4B95-C2FE3BA31859}"/>
              </a:ext>
            </a:extLst>
          </p:cNvPr>
          <p:cNvSpPr/>
          <p:nvPr/>
        </p:nvSpPr>
        <p:spPr>
          <a:xfrm>
            <a:off x="5029200" y="1691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>
                <a:solidFill>
                  <a:srgbClr val="64748B"/>
                </a:solidFill>
                <a:latin typeface="Biome"/>
                <a:ea typeface="Arial" pitchFamily="34" charset="-122"/>
                <a:cs typeface="Biome"/>
              </a:rPr>
              <a:t>System goes live for select few only — controlled access during initial rollout</a:t>
            </a:r>
            <a:endParaRPr lang="en-US" sz="950">
              <a:latin typeface="Biome"/>
              <a:cs typeface="Biome"/>
            </a:endParaRPr>
          </a:p>
        </p:txBody>
      </p:sp>
      <p:sp>
        <p:nvSpPr>
          <p:cNvPr id="1025" name="Shape 30">
            <a:extLst>
              <a:ext uri="{FF2B5EF4-FFF2-40B4-BE49-F238E27FC236}">
                <a16:creationId xmlns:a16="http://schemas.microsoft.com/office/drawing/2014/main" id="{39472C81-159D-B2D8-0AD1-3C68F46389D0}"/>
              </a:ext>
            </a:extLst>
          </p:cNvPr>
          <p:cNvSpPr/>
          <p:nvPr/>
        </p:nvSpPr>
        <p:spPr>
          <a:xfrm>
            <a:off x="4846320" y="207568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27" name="Shape 31">
            <a:extLst>
              <a:ext uri="{FF2B5EF4-FFF2-40B4-BE49-F238E27FC236}">
                <a16:creationId xmlns:a16="http://schemas.microsoft.com/office/drawing/2014/main" id="{C7A048F7-53A1-5202-9647-41D1D8C85585}"/>
              </a:ext>
            </a:extLst>
          </p:cNvPr>
          <p:cNvSpPr/>
          <p:nvPr/>
        </p:nvSpPr>
        <p:spPr>
          <a:xfrm>
            <a:off x="4846320" y="2075688"/>
            <a:ext cx="64008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28" name="Text 32">
            <a:extLst>
              <a:ext uri="{FF2B5EF4-FFF2-40B4-BE49-F238E27FC236}">
                <a16:creationId xmlns:a16="http://schemas.microsoft.com/office/drawing/2014/main" id="{D4838FF5-6C99-ACBD-5BAD-C887857B7A59}"/>
              </a:ext>
            </a:extLst>
          </p:cNvPr>
          <p:cNvSpPr/>
          <p:nvPr/>
        </p:nvSpPr>
        <p:spPr>
          <a:xfrm>
            <a:off x="5029200" y="21305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Week 2 — Extended Access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29" name="Text 33">
            <a:extLst>
              <a:ext uri="{FF2B5EF4-FFF2-40B4-BE49-F238E27FC236}">
                <a16:creationId xmlns:a16="http://schemas.microsoft.com/office/drawing/2014/main" id="{9953DBBA-0B32-A348-991B-58675B0E8115}"/>
              </a:ext>
            </a:extLst>
          </p:cNvPr>
          <p:cNvSpPr/>
          <p:nvPr/>
        </p:nvSpPr>
        <p:spPr>
          <a:xfrm>
            <a:off x="5029200" y="2350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HR and Business Support onboarded — begin using live data for real cases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30" name="Shape 34">
            <a:extLst>
              <a:ext uri="{FF2B5EF4-FFF2-40B4-BE49-F238E27FC236}">
                <a16:creationId xmlns:a16="http://schemas.microsoft.com/office/drawing/2014/main" id="{8F0A53EA-7C59-0CA7-EF1D-5FEBA2310293}"/>
              </a:ext>
            </a:extLst>
          </p:cNvPr>
          <p:cNvSpPr/>
          <p:nvPr/>
        </p:nvSpPr>
        <p:spPr>
          <a:xfrm>
            <a:off x="4846320" y="2734056"/>
            <a:ext cx="4023360" cy="566928"/>
          </a:xfrm>
          <a:prstGeom prst="rect">
            <a:avLst/>
          </a:prstGeom>
          <a:solidFill>
            <a:srgbClr val="FEF9F9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31" name="Shape 35">
            <a:extLst>
              <a:ext uri="{FF2B5EF4-FFF2-40B4-BE49-F238E27FC236}">
                <a16:creationId xmlns:a16="http://schemas.microsoft.com/office/drawing/2014/main" id="{D29E2DB3-7AED-B1F8-8507-993E6AA87545}"/>
              </a:ext>
            </a:extLst>
          </p:cNvPr>
          <p:cNvSpPr/>
          <p:nvPr/>
        </p:nvSpPr>
        <p:spPr>
          <a:xfrm>
            <a:off x="4846320" y="2734056"/>
            <a:ext cx="64008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32" name="Text 36">
            <a:extLst>
              <a:ext uri="{FF2B5EF4-FFF2-40B4-BE49-F238E27FC236}">
                <a16:creationId xmlns:a16="http://schemas.microsoft.com/office/drawing/2014/main" id="{650C627A-B21A-B868-C47B-127DC5DA6301}"/>
              </a:ext>
            </a:extLst>
          </p:cNvPr>
          <p:cNvSpPr/>
          <p:nvPr/>
        </p:nvSpPr>
        <p:spPr>
          <a:xfrm>
            <a:off x="5029200" y="2788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Week 3 — Full Rollout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33" name="Text 37">
            <a:extLst>
              <a:ext uri="{FF2B5EF4-FFF2-40B4-BE49-F238E27FC236}">
                <a16:creationId xmlns:a16="http://schemas.microsoft.com/office/drawing/2014/main" id="{0972177C-E9F8-EF3C-80FC-AF9409A73C9E}"/>
              </a:ext>
            </a:extLst>
          </p:cNvPr>
          <p:cNvSpPr/>
          <p:nvPr/>
        </p:nvSpPr>
        <p:spPr>
          <a:xfrm>
            <a:off x="5029200" y="3008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Management given read-only dashboard access — system fully operational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34" name="Shape 38">
            <a:extLst>
              <a:ext uri="{FF2B5EF4-FFF2-40B4-BE49-F238E27FC236}">
                <a16:creationId xmlns:a16="http://schemas.microsoft.com/office/drawing/2014/main" id="{25AECE75-F12C-9914-5CBE-9F22598FD2E6}"/>
              </a:ext>
            </a:extLst>
          </p:cNvPr>
          <p:cNvSpPr/>
          <p:nvPr/>
        </p:nvSpPr>
        <p:spPr>
          <a:xfrm>
            <a:off x="4846320" y="339242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35" name="Shape 39">
            <a:extLst>
              <a:ext uri="{FF2B5EF4-FFF2-40B4-BE49-F238E27FC236}">
                <a16:creationId xmlns:a16="http://schemas.microsoft.com/office/drawing/2014/main" id="{A31932AE-9891-133C-2564-9EA32D75E7CB}"/>
              </a:ext>
            </a:extLst>
          </p:cNvPr>
          <p:cNvSpPr/>
          <p:nvPr/>
        </p:nvSpPr>
        <p:spPr>
          <a:xfrm>
            <a:off x="4846320" y="3392424"/>
            <a:ext cx="64008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36" name="Text 40">
            <a:extLst>
              <a:ext uri="{FF2B5EF4-FFF2-40B4-BE49-F238E27FC236}">
                <a16:creationId xmlns:a16="http://schemas.microsoft.com/office/drawing/2014/main" id="{C5F0917B-AB54-BC1F-62D5-2903DD9EB448}"/>
              </a:ext>
            </a:extLst>
          </p:cNvPr>
          <p:cNvSpPr/>
          <p:nvPr/>
        </p:nvSpPr>
        <p:spPr>
          <a:xfrm>
            <a:off x="5029200" y="3447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Post-Launch — Monitoring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37" name="Text 41">
            <a:extLst>
              <a:ext uri="{FF2B5EF4-FFF2-40B4-BE49-F238E27FC236}">
                <a16:creationId xmlns:a16="http://schemas.microsoft.com/office/drawing/2014/main" id="{840196AE-E140-6F13-E2DF-3EE5E0A8F638}"/>
              </a:ext>
            </a:extLst>
          </p:cNvPr>
          <p:cNvSpPr/>
          <p:nvPr/>
        </p:nvSpPr>
        <p:spPr>
          <a:xfrm>
            <a:off x="5029200" y="3666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Weekly flow checks for 4 weeks — any errors fixed within 24 hours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38" name="Shape 42">
            <a:extLst>
              <a:ext uri="{FF2B5EF4-FFF2-40B4-BE49-F238E27FC236}">
                <a16:creationId xmlns:a16="http://schemas.microsoft.com/office/drawing/2014/main" id="{B689CB11-471D-750C-1416-6252257B0FCB}"/>
              </a:ext>
            </a:extLst>
          </p:cNvPr>
          <p:cNvSpPr/>
          <p:nvPr/>
        </p:nvSpPr>
        <p:spPr>
          <a:xfrm>
            <a:off x="4846320" y="4050792"/>
            <a:ext cx="4023360" cy="566928"/>
          </a:xfrm>
          <a:prstGeom prst="rect">
            <a:avLst/>
          </a:prstGeom>
          <a:solidFill>
            <a:srgbClr val="FEF9F9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39" name="Shape 43">
            <a:extLst>
              <a:ext uri="{FF2B5EF4-FFF2-40B4-BE49-F238E27FC236}">
                <a16:creationId xmlns:a16="http://schemas.microsoft.com/office/drawing/2014/main" id="{1406A657-0C2B-F4D5-B163-CF84AA219B1F}"/>
              </a:ext>
            </a:extLst>
          </p:cNvPr>
          <p:cNvSpPr/>
          <p:nvPr/>
        </p:nvSpPr>
        <p:spPr>
          <a:xfrm>
            <a:off x="4846320" y="4050792"/>
            <a:ext cx="64008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40" name="Text 44">
            <a:extLst>
              <a:ext uri="{FF2B5EF4-FFF2-40B4-BE49-F238E27FC236}">
                <a16:creationId xmlns:a16="http://schemas.microsoft.com/office/drawing/2014/main" id="{3C9CBD7C-CDA6-4589-3173-C3D60EE2750F}"/>
              </a:ext>
            </a:extLst>
          </p:cNvPr>
          <p:cNvSpPr/>
          <p:nvPr/>
        </p:nvSpPr>
        <p:spPr>
          <a:xfrm>
            <a:off x="5029200" y="4105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Phase 2 — Advanced Features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41" name="Text 45">
            <a:extLst>
              <a:ext uri="{FF2B5EF4-FFF2-40B4-BE49-F238E27FC236}">
                <a16:creationId xmlns:a16="http://schemas.microsoft.com/office/drawing/2014/main" id="{107D031D-045A-F515-585B-EA5EEFC357A2}"/>
              </a:ext>
            </a:extLst>
          </p:cNvPr>
          <p:cNvSpPr/>
          <p:nvPr/>
        </p:nvSpPr>
        <p:spPr>
          <a:xfrm>
            <a:off x="5029200" y="4325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Appeals workflow, Power Apps form, Power BI dashboard and predictive analytics</a:t>
            </a:r>
            <a:endParaRPr lang="en-US" sz="95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721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6209"/>
            <a:ext cx="9144000" cy="77273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10912" y="-14167"/>
            <a:ext cx="38829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0000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THE END PRODUCT — WHAT SUCCESS LOOKS LIKE</a:t>
            </a:r>
            <a:endParaRPr lang="en-US" sz="120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560320" cy="1371600"/>
          </a:xfrm>
          <a:prstGeom prst="rect">
            <a:avLst/>
          </a:prstGeom>
          <a:solidFill>
            <a:srgbClr val="002060"/>
          </a:solidFill>
          <a:ln w="254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16A34A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100%</a:t>
            </a:r>
            <a:endParaRPr lang="en-US" sz="36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Digital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Compliance Records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560320" cy="1371600"/>
          </a:xfrm>
          <a:prstGeom prst="rect">
            <a:avLst/>
          </a:prstGeom>
          <a:solidFill>
            <a:srgbClr val="002060"/>
          </a:solidFill>
          <a:ln w="254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241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E8A020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0</a:t>
            </a:r>
            <a:endParaRPr lang="en-US" sz="36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9184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Manual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Follow-ups Needed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560320" cy="1371600"/>
          </a:xfrm>
          <a:prstGeom prst="rect">
            <a:avLst/>
          </a:prstGeom>
          <a:solidFill>
            <a:srgbClr val="002060"/>
          </a:solidFill>
          <a:ln w="254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241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F0000"/>
                </a:solidFill>
                <a:latin typeface="Biome" panose="020B0503030204020804" pitchFamily="34" charset="0"/>
                <a:ea typeface="Arial Black" pitchFamily="34" charset="-122"/>
                <a:cs typeface="Biome" panose="020B0503030204020804" pitchFamily="34" charset="0"/>
              </a:rPr>
              <a:t>Real-time</a:t>
            </a:r>
            <a:endParaRPr lang="en-US" sz="360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2648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Executive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Governance Visibility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8595360" cy="96012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60320"/>
            <a:ext cx="73152" cy="9601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33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>
                <a:solidFill>
                  <a:srgbClr val="FFFFFF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"This platform is not a disciplinary tool.</a:t>
            </a:r>
            <a:endParaRPr lang="en-US" sz="13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2944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A0B4D0"/>
                </a:solidFill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It is a governance infrastructure that embeds accountability, fairness, and policy-driven enforcement into KCC's operational DNA."</a:t>
            </a:r>
            <a:endParaRPr lang="en-US" sz="12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3822192"/>
            <a:ext cx="18288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Consistent &amp; defensible disciplinary decisions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4169664"/>
            <a:ext cx="18288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4096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Early detection of behavioural risk patterns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3822192"/>
            <a:ext cx="18288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5010912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Stronger protection of reputation, assets &amp; revenue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4169664"/>
            <a:ext cx="18288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5010912" y="4096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latin typeface="Biome" panose="020B0503030204020804" pitchFamily="34" charset="0"/>
                <a:ea typeface="Arial" pitchFamily="34" charset="-122"/>
                <a:cs typeface="Biome" panose="020B0503030204020804" pitchFamily="34" charset="0"/>
              </a:rPr>
              <a:t>A measurable, data-driven compliance culture</a:t>
            </a:r>
            <a:endParaRPr lang="en-US" sz="110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25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639D6696-24F2-8C4E-2FA0-9566E6244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728" y="-203454"/>
            <a:ext cx="1280160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40EDE-E3A1-F63A-16DB-FAF2B4D5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80">
            <a:extLst>
              <a:ext uri="{FF2B5EF4-FFF2-40B4-BE49-F238E27FC236}">
                <a16:creationId xmlns:a16="http://schemas.microsoft.com/office/drawing/2014/main" id="{2CCD28C1-A207-2E89-E20E-CF28D7FAFDB1}"/>
              </a:ext>
            </a:extLst>
          </p:cNvPr>
          <p:cNvSpPr/>
          <p:nvPr/>
        </p:nvSpPr>
        <p:spPr>
          <a:xfrm>
            <a:off x="500133" y="0"/>
            <a:ext cx="57147" cy="71794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6200"/>
              <a:gd name="f7" fmla="val 957262"/>
              <a:gd name="f8" fmla="val 957263"/>
              <a:gd name="f9" fmla="+- 0 0 -90"/>
              <a:gd name="f10" fmla="*/ f3 1 76200"/>
              <a:gd name="f11" fmla="*/ f4 1 957262"/>
              <a:gd name="f12" fmla="val f5"/>
              <a:gd name="f13" fmla="val f6"/>
              <a:gd name="f14" fmla="val f7"/>
              <a:gd name="f15" fmla="*/ f9 f0 1"/>
              <a:gd name="f16" fmla="+- f14 0 f12"/>
              <a:gd name="f17" fmla="+- f13 0 f12"/>
              <a:gd name="f18" fmla="*/ f15 1 f2"/>
              <a:gd name="f19" fmla="*/ f17 1 76200"/>
              <a:gd name="f20" fmla="*/ f16 1 957262"/>
              <a:gd name="f21" fmla="*/ 0 f17 1"/>
              <a:gd name="f22" fmla="*/ 0 f16 1"/>
              <a:gd name="f23" fmla="*/ 76200 f17 1"/>
              <a:gd name="f24" fmla="*/ 957263 f16 1"/>
              <a:gd name="f25" fmla="+- f18 0 f1"/>
              <a:gd name="f26" fmla="*/ f21 1 76200"/>
              <a:gd name="f27" fmla="*/ f22 1 957262"/>
              <a:gd name="f28" fmla="*/ f23 1 76200"/>
              <a:gd name="f29" fmla="*/ f24 1 957262"/>
              <a:gd name="f30" fmla="*/ f12 1 f19"/>
              <a:gd name="f31" fmla="*/ f13 1 f19"/>
              <a:gd name="f32" fmla="*/ f12 1 f20"/>
              <a:gd name="f33" fmla="*/ f14 1 f20"/>
              <a:gd name="f34" fmla="*/ f26 1 f19"/>
              <a:gd name="f35" fmla="*/ f27 1 f20"/>
              <a:gd name="f36" fmla="*/ f28 1 f19"/>
              <a:gd name="f37" fmla="*/ f29 1 f20"/>
              <a:gd name="f38" fmla="*/ f30 f10 1"/>
              <a:gd name="f39" fmla="*/ f31 f10 1"/>
              <a:gd name="f40" fmla="*/ f33 f11 1"/>
              <a:gd name="f41" fmla="*/ f32 f11 1"/>
              <a:gd name="f42" fmla="*/ f34 f10 1"/>
              <a:gd name="f43" fmla="*/ f35 f11 1"/>
              <a:gd name="f44" fmla="*/ f36 f10 1"/>
              <a:gd name="f45" fmla="*/ f37 f1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5">
                <a:pos x="f42" y="f43"/>
              </a:cxn>
              <a:cxn ang="f25">
                <a:pos x="f44" y="f43"/>
              </a:cxn>
              <a:cxn ang="f25">
                <a:pos x="f44" y="f45"/>
              </a:cxn>
              <a:cxn ang="f25">
                <a:pos x="f42" y="f45"/>
              </a:cxn>
            </a:cxnLst>
            <a:rect l="f38" t="f41" r="f39" b="f40"/>
            <a:pathLst>
              <a:path w="76200" h="957262">
                <a:moveTo>
                  <a:pt x="f5" y="f5"/>
                </a:moveTo>
                <a:lnTo>
                  <a:pt x="f6" y="f5"/>
                </a:lnTo>
                <a:lnTo>
                  <a:pt x="f6" y="f8"/>
                </a:lnTo>
                <a:lnTo>
                  <a:pt x="f5" y="f8"/>
                </a:lnTo>
                <a:close/>
              </a:path>
            </a:pathLst>
          </a:custGeom>
          <a:solidFill>
            <a:srgbClr val="FF0000"/>
          </a:solidFill>
          <a:ln cap="flat">
            <a:noFill/>
            <a:prstDash val="solid"/>
          </a:ln>
        </p:spPr>
        <p:txBody>
          <a:bodyPr vert="horz" wrap="square" lIns="68580" tIns="34290" rIns="68580" bIns="34290" anchor="ctr" anchorCtr="0" compatLnSpc="1">
            <a:noAutofit/>
          </a:bodyPr>
          <a:lstStyle/>
          <a:p>
            <a:pPr defTabSz="6858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50">
              <a:solidFill>
                <a:srgbClr val="FF0000"/>
              </a:solidFill>
              <a:latin typeface="Montserrat"/>
            </a:endParaRPr>
          </a:p>
        </p:txBody>
      </p:sp>
      <p:sp>
        <p:nvSpPr>
          <p:cNvPr id="17" name="Freeform: Shape 81">
            <a:extLst>
              <a:ext uri="{FF2B5EF4-FFF2-40B4-BE49-F238E27FC236}">
                <a16:creationId xmlns:a16="http://schemas.microsoft.com/office/drawing/2014/main" id="{BFDE0D70-34D3-3449-2585-76F8BB7380F0}"/>
              </a:ext>
            </a:extLst>
          </p:cNvPr>
          <p:cNvSpPr/>
          <p:nvPr/>
        </p:nvSpPr>
        <p:spPr>
          <a:xfrm>
            <a:off x="500133" y="1931670"/>
            <a:ext cx="57147" cy="321183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6200"/>
              <a:gd name="f7" fmla="val 4143375"/>
              <a:gd name="f8" fmla="+- 0 0 -90"/>
              <a:gd name="f9" fmla="*/ f3 1 76200"/>
              <a:gd name="f10" fmla="*/ f4 1 4143375"/>
              <a:gd name="f11" fmla="val f5"/>
              <a:gd name="f12" fmla="val f6"/>
              <a:gd name="f13" fmla="val f7"/>
              <a:gd name="f14" fmla="*/ f8 f0 1"/>
              <a:gd name="f15" fmla="+- f13 0 f11"/>
              <a:gd name="f16" fmla="+- f12 0 f11"/>
              <a:gd name="f17" fmla="*/ f14 1 f2"/>
              <a:gd name="f18" fmla="*/ f16 1 76200"/>
              <a:gd name="f19" fmla="*/ f15 1 4143375"/>
              <a:gd name="f20" fmla="*/ 0 f16 1"/>
              <a:gd name="f21" fmla="*/ 0 f15 1"/>
              <a:gd name="f22" fmla="*/ 76200 f16 1"/>
              <a:gd name="f23" fmla="*/ 4143375 f15 1"/>
              <a:gd name="f24" fmla="+- f17 0 f1"/>
              <a:gd name="f25" fmla="*/ f20 1 76200"/>
              <a:gd name="f26" fmla="*/ f21 1 4143375"/>
              <a:gd name="f27" fmla="*/ f22 1 76200"/>
              <a:gd name="f28" fmla="*/ f23 1 4143375"/>
              <a:gd name="f29" fmla="*/ f11 1 f18"/>
              <a:gd name="f30" fmla="*/ f12 1 f18"/>
              <a:gd name="f31" fmla="*/ f11 1 f19"/>
              <a:gd name="f32" fmla="*/ f13 1 f19"/>
              <a:gd name="f33" fmla="*/ f25 1 f18"/>
              <a:gd name="f34" fmla="*/ f26 1 f19"/>
              <a:gd name="f35" fmla="*/ f27 1 f18"/>
              <a:gd name="f36" fmla="*/ f28 1 f19"/>
              <a:gd name="f37" fmla="*/ f29 f9 1"/>
              <a:gd name="f38" fmla="*/ f30 f9 1"/>
              <a:gd name="f39" fmla="*/ f32 f10 1"/>
              <a:gd name="f40" fmla="*/ f31 f10 1"/>
              <a:gd name="f41" fmla="*/ f33 f9 1"/>
              <a:gd name="f42" fmla="*/ f34 f10 1"/>
              <a:gd name="f43" fmla="*/ f35 f9 1"/>
              <a:gd name="f44" fmla="*/ f36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41" y="f42"/>
              </a:cxn>
              <a:cxn ang="f24">
                <a:pos x="f43" y="f42"/>
              </a:cxn>
              <a:cxn ang="f24">
                <a:pos x="f43" y="f44"/>
              </a:cxn>
              <a:cxn ang="f24">
                <a:pos x="f41" y="f44"/>
              </a:cxn>
            </a:cxnLst>
            <a:rect l="f37" t="f40" r="f38" b="f39"/>
            <a:pathLst>
              <a:path w="76200" h="4143375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FF0000"/>
          </a:solidFill>
          <a:ln cap="flat">
            <a:noFill/>
            <a:prstDash val="solid"/>
          </a:ln>
        </p:spPr>
        <p:txBody>
          <a:bodyPr vert="horz" wrap="square" lIns="68580" tIns="34290" rIns="68580" bIns="34290" anchor="ctr" anchorCtr="0" compatLnSpc="1">
            <a:noAutofit/>
          </a:bodyPr>
          <a:lstStyle/>
          <a:p>
            <a:pPr defTabSz="6858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50">
              <a:solidFill>
                <a:srgbClr val="FF0000"/>
              </a:solidFill>
              <a:latin typeface="Montserrat"/>
            </a:endParaRPr>
          </a:p>
        </p:txBody>
      </p:sp>
      <p:sp>
        <p:nvSpPr>
          <p:cNvPr id="18" name="TextBox 100">
            <a:extLst>
              <a:ext uri="{FF2B5EF4-FFF2-40B4-BE49-F238E27FC236}">
                <a16:creationId xmlns:a16="http://schemas.microsoft.com/office/drawing/2014/main" id="{B8BDDD60-FDD2-39F4-265B-C51CB4AE0C0B}"/>
              </a:ext>
            </a:extLst>
          </p:cNvPr>
          <p:cNvSpPr txBox="1"/>
          <p:nvPr/>
        </p:nvSpPr>
        <p:spPr>
          <a:xfrm>
            <a:off x="500133" y="708258"/>
            <a:ext cx="3404503" cy="122341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t" anchorCtr="0" compatLnSpc="1">
            <a:spAutoFit/>
          </a:bodyPr>
          <a:lstStyle/>
          <a:p>
            <a:pPr defTabSz="6858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750">
                <a:solidFill>
                  <a:srgbClr val="3B3838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Thank </a:t>
            </a:r>
          </a:p>
          <a:p>
            <a:pPr defTabSz="6858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750" kern="0">
                <a:solidFill>
                  <a:srgbClr val="FF000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You</a:t>
            </a:r>
            <a:endParaRPr lang="en-US" sz="375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5BBA02E-BE23-21F0-91B9-8C4827FD414F}"/>
              </a:ext>
            </a:extLst>
          </p:cNvPr>
          <p:cNvSpPr txBox="1"/>
          <p:nvPr/>
        </p:nvSpPr>
        <p:spPr>
          <a:xfrm>
            <a:off x="557280" y="3814125"/>
            <a:ext cx="4752975" cy="103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lnSpc>
                <a:spcPct val="150000"/>
              </a:lnSpc>
            </a:pPr>
            <a:r>
              <a:rPr lang="en-GB" sz="1050" b="1">
                <a:solidFill>
                  <a:prstClr val="black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</a:t>
            </a:r>
            <a:r>
              <a:rPr lang="en-GB" sz="1050">
                <a:solidFill>
                  <a:prstClr val="black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: +234 912 555 5551 </a:t>
            </a:r>
            <a:br>
              <a:rPr lang="en-GB" sz="1050">
                <a:solidFill>
                  <a:prstClr val="black"/>
                </a:solidFill>
                <a:latin typeface="Biome" panose="020B0503030204020804" pitchFamily="34" charset="0"/>
                <a:cs typeface="Biome" panose="020B0503030204020804" pitchFamily="34" charset="0"/>
              </a:rPr>
            </a:br>
            <a:r>
              <a:rPr lang="en-GB" sz="1050" b="1">
                <a:solidFill>
                  <a:prstClr val="black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W: </a:t>
            </a:r>
            <a:r>
              <a:rPr lang="en-GB" sz="1050">
                <a:solidFill>
                  <a:prstClr val="black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www.konstructum.com</a:t>
            </a:r>
            <a:br>
              <a:rPr lang="en-GB" sz="1050">
                <a:solidFill>
                  <a:prstClr val="black"/>
                </a:solidFill>
                <a:latin typeface="Biome" panose="020B0503030204020804" pitchFamily="34" charset="0"/>
                <a:cs typeface="Biome" panose="020B0503030204020804" pitchFamily="34" charset="0"/>
              </a:rPr>
            </a:br>
            <a:r>
              <a:rPr lang="en-GB" sz="1050" b="1">
                <a:solidFill>
                  <a:prstClr val="black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E: </a:t>
            </a:r>
            <a:r>
              <a:rPr lang="en-GB" sz="1050">
                <a:solidFill>
                  <a:prstClr val="black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executivesupport@konstructum.com</a:t>
            </a:r>
            <a:br>
              <a:rPr lang="en-GB" sz="1050">
                <a:solidFill>
                  <a:prstClr val="black"/>
                </a:solidFill>
                <a:latin typeface="Biome" panose="020B0503030204020804" pitchFamily="34" charset="0"/>
                <a:cs typeface="Biome" panose="020B0503030204020804" pitchFamily="34" charset="0"/>
              </a:rPr>
            </a:br>
            <a:r>
              <a:rPr lang="en-GB" sz="1050" b="1">
                <a:solidFill>
                  <a:prstClr val="black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A: </a:t>
            </a:r>
            <a:r>
              <a:rPr lang="en-GB" sz="1050">
                <a:solidFill>
                  <a:prstClr val="black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40 Adetokunbo Ademola Street, Victoria Island, Lagos, Nigeria.</a:t>
            </a:r>
          </a:p>
        </p:txBody>
      </p:sp>
      <p:pic>
        <p:nvPicPr>
          <p:cNvPr id="5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DE5FD3BB-4983-4011-7EF6-FF74EEBA8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2780" y="-111569"/>
            <a:ext cx="1280160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34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7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3B3838"/>
      </a:dk2>
      <a:lt2>
        <a:srgbClr val="EEECE1"/>
      </a:lt2>
      <a:accent1>
        <a:srgbClr val="FF0000"/>
      </a:accent1>
      <a:accent2>
        <a:srgbClr val="DD421D"/>
      </a:accent2>
      <a:accent3>
        <a:srgbClr val="3B3838"/>
      </a:accent3>
      <a:accent4>
        <a:srgbClr val="FF6F57"/>
      </a:accent4>
      <a:accent5>
        <a:srgbClr val="FF6F57"/>
      </a:accent5>
      <a:accent6>
        <a:srgbClr val="3B3838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38a365a-4eb0-4a1f-ab5d-fd6310480aa5">
      <Terms xmlns="http://schemas.microsoft.com/office/infopath/2007/PartnerControls"/>
    </lcf76f155ced4ddcb4097134ff3c332f>
    <TaxCatchAll xmlns="86aae8b4-0363-40e6-8da7-39607c3510f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AEF34520A0B2438B58D4FA04A33E0C" ma:contentTypeVersion="13" ma:contentTypeDescription="Create a new document." ma:contentTypeScope="" ma:versionID="98b04befb55bcebef555b7fa26b7c37c">
  <xsd:schema xmlns:xsd="http://www.w3.org/2001/XMLSchema" xmlns:xs="http://www.w3.org/2001/XMLSchema" xmlns:p="http://schemas.microsoft.com/office/2006/metadata/properties" xmlns:ns2="538a365a-4eb0-4a1f-ab5d-fd6310480aa5" xmlns:ns3="86aae8b4-0363-40e6-8da7-39607c3510f4" targetNamespace="http://schemas.microsoft.com/office/2006/metadata/properties" ma:root="true" ma:fieldsID="33faf2a32d2e495e3aa863bb24c92825" ns2:_="" ns3:_="">
    <xsd:import namespace="538a365a-4eb0-4a1f-ab5d-fd6310480aa5"/>
    <xsd:import namespace="86aae8b4-0363-40e6-8da7-39607c3510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8a365a-4eb0-4a1f-ab5d-fd6310480a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c1a1e5-2e95-419b-8c42-dd9bfbba09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aae8b4-0363-40e6-8da7-39607c3510f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548febb-afe4-48cf-8167-5ffd8d4642ed}" ma:internalName="TaxCatchAll" ma:showField="CatchAllData" ma:web="86aae8b4-0363-40e6-8da7-39607c3510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36F769-9BFE-49B3-BFE8-224FC2194F6B}">
  <ds:schemaRefs>
    <ds:schemaRef ds:uri="538a365a-4eb0-4a1f-ab5d-fd6310480aa5"/>
    <ds:schemaRef ds:uri="86aae8b4-0363-40e6-8da7-39607c3510f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6023E5A-CB1D-4523-A002-29C3B51603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5B6F9A-0CB5-4B32-92B3-6F6143B0C07B}">
  <ds:schemaRefs>
    <ds:schemaRef ds:uri="538a365a-4eb0-4a1f-ab5d-fd6310480aa5"/>
    <ds:schemaRef ds:uri="86aae8b4-0363-40e6-8da7-39607c3510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PACT CGP — Chairman Briefing</dc:title>
  <dc:subject>PptxGenJS Presentation</dc:subject>
  <dc:creator>Muyis Rafiu Bello</dc:creator>
  <cp:revision>167</cp:revision>
  <dcterms:created xsi:type="dcterms:W3CDTF">2026-03-30T14:26:38Z</dcterms:created>
  <dcterms:modified xsi:type="dcterms:W3CDTF">2026-04-13T08:02:50Z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0x010100EEAEF34520A0B2438B58D4FA04A33E0C</vt:lpwstr>
  </property>
  <property fmtid="{D5CDD505-2E9C-101B-9397-08002B2CF9AE}" pid="3" name="MediaServiceImageTags">
    <vt:lpwstr/>
  </property>
</Properties>
</file>